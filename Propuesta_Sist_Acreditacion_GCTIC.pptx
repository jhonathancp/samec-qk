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314" r:id="rId2"/>
    <p:sldId id="302" r:id="rId3"/>
    <p:sldId id="333" r:id="rId4"/>
    <p:sldId id="260" r:id="rId5"/>
    <p:sldId id="332" r:id="rId6"/>
    <p:sldId id="317" r:id="rId7"/>
    <p:sldId id="316" r:id="rId8"/>
    <p:sldId id="318" r:id="rId9"/>
    <p:sldId id="319" r:id="rId10"/>
    <p:sldId id="320" r:id="rId11"/>
    <p:sldId id="322" r:id="rId12"/>
    <p:sldId id="324" r:id="rId13"/>
    <p:sldId id="321" r:id="rId14"/>
    <p:sldId id="325" r:id="rId15"/>
    <p:sldId id="299" r:id="rId16"/>
    <p:sldId id="296" r:id="rId17"/>
    <p:sldId id="298" r:id="rId18"/>
    <p:sldId id="292" r:id="rId19"/>
    <p:sldId id="279" r:id="rId20"/>
    <p:sldId id="326" r:id="rId21"/>
    <p:sldId id="330" r:id="rId22"/>
    <p:sldId id="283" r:id="rId23"/>
    <p:sldId id="329" r:id="rId24"/>
    <p:sldId id="327" r:id="rId25"/>
    <p:sldId id="288" r:id="rId26"/>
    <p:sldId id="328" r:id="rId27"/>
    <p:sldId id="331" r:id="rId28"/>
  </p:sldIdLst>
  <p:sldSz cx="18288000" cy="10287000"/>
  <p:notesSz cx="6858000" cy="9144000"/>
  <p:embeddedFontLst>
    <p:embeddedFont>
      <p:font typeface="Arimo" panose="020B0604020202020204" charset="0"/>
      <p:regular r:id="rId30"/>
    </p:embeddedFont>
    <p:embeddedFont>
      <p:font typeface="Arimo Bold" panose="020B0604020202020204" charset="0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Roboto Bold" panose="02000000000000000000" pitchFamily="2" charset="0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A4D8"/>
    <a:srgbClr val="FFFFFF"/>
    <a:srgbClr val="04569C"/>
    <a:srgbClr val="065DAA"/>
    <a:srgbClr val="F2F3F5"/>
    <a:srgbClr val="04579D"/>
    <a:srgbClr val="08599F"/>
    <a:srgbClr val="EEF0F4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6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10382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58557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64416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76858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26605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95759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58198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67627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5816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802210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3793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00438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27836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68368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67974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71361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659543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632304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57991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hyperlink" Target="https://www.figma.com/design/dr4RUQggvXjCd0b0qFqDv5/SAMEC?node-id=0-1&amp;p=f&amp;t=GSeu9tCKxtEI9LHU-0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681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4">
            <a:extLst>
              <a:ext uri="{FF2B5EF4-FFF2-40B4-BE49-F238E27FC236}">
                <a16:creationId xmlns:a16="http://schemas.microsoft.com/office/drawing/2014/main" id="{9BCB29EE-9539-4C95-9224-B8E6C908254F}"/>
              </a:ext>
            </a:extLst>
          </p:cNvPr>
          <p:cNvGrpSpPr/>
          <p:nvPr/>
        </p:nvGrpSpPr>
        <p:grpSpPr>
          <a:xfrm>
            <a:off x="419724" y="360466"/>
            <a:ext cx="14134475" cy="793813"/>
            <a:chOff x="-1" y="-19049"/>
            <a:chExt cx="18845967" cy="1058417"/>
          </a:xfrm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48F36755-13A1-4F56-93EB-CC836CFCFEAF}"/>
                </a:ext>
              </a:extLst>
            </p:cNvPr>
            <p:cNvSpPr/>
            <p:nvPr/>
          </p:nvSpPr>
          <p:spPr>
            <a:xfrm>
              <a:off x="-1" y="0"/>
              <a:ext cx="188459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9C8B">
                    <a:alpha val="100000"/>
                  </a:srgbClr>
                </a:gs>
                <a:gs pos="100000">
                  <a:srgbClr val="07B9A4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</p:sp>
        <p:sp>
          <p:nvSpPr>
            <p:cNvPr id="33" name="TextBox 6">
              <a:extLst>
                <a:ext uri="{FF2B5EF4-FFF2-40B4-BE49-F238E27FC236}">
                  <a16:creationId xmlns:a16="http://schemas.microsoft.com/office/drawing/2014/main" id="{1A39F005-CE2B-4D89-B38D-A1D799E35463}"/>
                </a:ext>
              </a:extLst>
            </p:cNvPr>
            <p:cNvSpPr txBox="1"/>
            <p:nvPr/>
          </p:nvSpPr>
          <p:spPr>
            <a:xfrm>
              <a:off x="-1" y="-19049"/>
              <a:ext cx="18541168" cy="1058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SISTEMA SEMAC – PROCESO REVISION Y REGISTRO DOCUMENTARIO</a:t>
              </a:r>
              <a:endPara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E9B2C79-DC6B-49AE-AD8F-806474B8C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75" y="1257300"/>
            <a:ext cx="16992600" cy="805500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C308D54-AD93-43C5-97CC-151A6853875D}"/>
              </a:ext>
            </a:extLst>
          </p:cNvPr>
          <p:cNvSpPr/>
          <p:nvPr/>
        </p:nvSpPr>
        <p:spPr>
          <a:xfrm>
            <a:off x="2667000" y="1409700"/>
            <a:ext cx="1905000" cy="9144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3D6C3A-200F-40CE-AC3B-DFAB59791240}"/>
              </a:ext>
            </a:extLst>
          </p:cNvPr>
          <p:cNvSpPr txBox="1"/>
          <p:nvPr/>
        </p:nvSpPr>
        <p:spPr>
          <a:xfrm>
            <a:off x="4191000" y="1638300"/>
            <a:ext cx="99060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2000" b="1">
                <a:solidFill>
                  <a:srgbClr val="FF0000"/>
                </a:solidFill>
              </a:rPr>
              <a:t>FASE I</a:t>
            </a:r>
            <a:endParaRPr lang="es-PE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42733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4">
            <a:extLst>
              <a:ext uri="{FF2B5EF4-FFF2-40B4-BE49-F238E27FC236}">
                <a16:creationId xmlns:a16="http://schemas.microsoft.com/office/drawing/2014/main" id="{9BCB29EE-9539-4C95-9224-B8E6C908254F}"/>
              </a:ext>
            </a:extLst>
          </p:cNvPr>
          <p:cNvGrpSpPr/>
          <p:nvPr/>
        </p:nvGrpSpPr>
        <p:grpSpPr>
          <a:xfrm>
            <a:off x="419724" y="360466"/>
            <a:ext cx="14134475" cy="793813"/>
            <a:chOff x="-1" y="-19049"/>
            <a:chExt cx="18845967" cy="1058417"/>
          </a:xfrm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48F36755-13A1-4F56-93EB-CC836CFCFEAF}"/>
                </a:ext>
              </a:extLst>
            </p:cNvPr>
            <p:cNvSpPr/>
            <p:nvPr/>
          </p:nvSpPr>
          <p:spPr>
            <a:xfrm>
              <a:off x="-1" y="0"/>
              <a:ext cx="188459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9C8B">
                    <a:alpha val="100000"/>
                  </a:srgbClr>
                </a:gs>
                <a:gs pos="100000">
                  <a:srgbClr val="07B9A4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</p:sp>
        <p:sp>
          <p:nvSpPr>
            <p:cNvPr id="33" name="TextBox 6">
              <a:extLst>
                <a:ext uri="{FF2B5EF4-FFF2-40B4-BE49-F238E27FC236}">
                  <a16:creationId xmlns:a16="http://schemas.microsoft.com/office/drawing/2014/main" id="{1A39F005-CE2B-4D89-B38D-A1D799E35463}"/>
                </a:ext>
              </a:extLst>
            </p:cNvPr>
            <p:cNvSpPr txBox="1"/>
            <p:nvPr/>
          </p:nvSpPr>
          <p:spPr>
            <a:xfrm>
              <a:off x="-1" y="-19049"/>
              <a:ext cx="18541168" cy="1058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SISTEMA SEMAC – SUBPROC. “INGRESO DE SUSTENTO AUTOEVALUACION”</a:t>
              </a:r>
              <a:endPara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7FD7B25F-5FFA-4F2E-BD1C-9F48F0969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390391"/>
            <a:ext cx="14003704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8394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14"/>
          </a:xfrm>
          <a:custGeom>
            <a:avLst/>
            <a:gdLst/>
            <a:ahLst/>
            <a:cxnLst/>
            <a:rect l="l" t="t" r="r" b="b"/>
            <a:pathLst>
              <a:path w="18288000" h="10287014">
                <a:moveTo>
                  <a:pt x="0" y="0"/>
                </a:moveTo>
                <a:lnTo>
                  <a:pt x="18288000" y="0"/>
                </a:lnTo>
                <a:lnTo>
                  <a:pt x="18288000" y="10287014"/>
                </a:lnTo>
                <a:lnTo>
                  <a:pt x="0" y="10287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43912" y="4385729"/>
            <a:ext cx="9605697" cy="638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Actores</a:t>
            </a:r>
            <a:r>
              <a:rPr lang="en-US" sz="44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y </a:t>
            </a:r>
            <a:r>
              <a:rPr lang="en-US" sz="4400" b="1" dirty="0" err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Requerimientos</a:t>
            </a:r>
            <a:endParaRPr lang="en-US" sz="4400" b="1" dirty="0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8A3163-A13B-4E23-B985-E56E1D7AA05E}"/>
              </a:ext>
            </a:extLst>
          </p:cNvPr>
          <p:cNvSpPr/>
          <p:nvPr/>
        </p:nvSpPr>
        <p:spPr>
          <a:xfrm>
            <a:off x="12039600" y="8953500"/>
            <a:ext cx="2590800" cy="990600"/>
          </a:xfrm>
          <a:prstGeom prst="rect">
            <a:avLst/>
          </a:prstGeom>
          <a:solidFill>
            <a:srgbClr val="065D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4">
            <a:extLst>
              <a:ext uri="{FF2B5EF4-FFF2-40B4-BE49-F238E27FC236}">
                <a16:creationId xmlns:a16="http://schemas.microsoft.com/office/drawing/2014/main" id="{9BCB29EE-9539-4C95-9224-B8E6C908254F}"/>
              </a:ext>
            </a:extLst>
          </p:cNvPr>
          <p:cNvGrpSpPr/>
          <p:nvPr/>
        </p:nvGrpSpPr>
        <p:grpSpPr>
          <a:xfrm>
            <a:off x="419725" y="374753"/>
            <a:ext cx="4392908" cy="779490"/>
            <a:chOff x="0" y="0"/>
            <a:chExt cx="5857211" cy="1039320"/>
          </a:xfrm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48F36755-13A1-4F56-93EB-CC836CFCFEAF}"/>
                </a:ext>
              </a:extLst>
            </p:cNvPr>
            <p:cNvSpPr/>
            <p:nvPr/>
          </p:nvSpPr>
          <p:spPr>
            <a:xfrm>
              <a:off x="0" y="0"/>
              <a:ext cx="5857240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gradFill rotWithShape="1">
              <a:gsLst>
                <a:gs pos="0">
                  <a:srgbClr val="019C8B">
                    <a:alpha val="100000"/>
                  </a:srgbClr>
                </a:gs>
                <a:gs pos="100000">
                  <a:srgbClr val="07B9A4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</p:sp>
        <p:sp>
          <p:nvSpPr>
            <p:cNvPr id="33" name="TextBox 6">
              <a:extLst>
                <a:ext uri="{FF2B5EF4-FFF2-40B4-BE49-F238E27FC236}">
                  <a16:creationId xmlns:a16="http://schemas.microsoft.com/office/drawing/2014/main" id="{1A39F005-CE2B-4D89-B38D-A1D799E35463}"/>
                </a:ext>
              </a:extLst>
            </p:cNvPr>
            <p:cNvSpPr txBox="1"/>
            <p:nvPr/>
          </p:nvSpPr>
          <p:spPr>
            <a:xfrm>
              <a:off x="0" y="-19050"/>
              <a:ext cx="5857211" cy="1058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ROLES IDENTIFICADOS</a:t>
              </a:r>
            </a:p>
          </p:txBody>
        </p:sp>
      </p:grpSp>
      <p:sp>
        <p:nvSpPr>
          <p:cNvPr id="34" name="Freeform 7">
            <a:extLst>
              <a:ext uri="{FF2B5EF4-FFF2-40B4-BE49-F238E27FC236}">
                <a16:creationId xmlns:a16="http://schemas.microsoft.com/office/drawing/2014/main" id="{2E89D30D-E25F-4339-9F3C-0DA9842F5E5E}"/>
              </a:ext>
            </a:extLst>
          </p:cNvPr>
          <p:cNvSpPr/>
          <p:nvPr/>
        </p:nvSpPr>
        <p:spPr>
          <a:xfrm>
            <a:off x="12944453" y="1415335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7708" t="-17477" r="-106338" b="-144983"/>
            </a:stretch>
          </a:blipFill>
        </p:spPr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38CED40E-3BF9-4C9D-970D-28DC5DF7FF02}"/>
              </a:ext>
            </a:extLst>
          </p:cNvPr>
          <p:cNvSpPr/>
          <p:nvPr/>
        </p:nvSpPr>
        <p:spPr>
          <a:xfrm>
            <a:off x="9971503" y="4819371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2075" t="-15044" r="-11971" b="-147416"/>
            </a:stretch>
          </a:blipFill>
        </p:spPr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A6E23935-8234-45C2-8F60-7050B2A0641E}"/>
              </a:ext>
            </a:extLst>
          </p:cNvPr>
          <p:cNvSpPr/>
          <p:nvPr/>
        </p:nvSpPr>
        <p:spPr>
          <a:xfrm>
            <a:off x="7732553" y="1468819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33" t="-137235" r="-202113" b="-25225"/>
            </a:stretch>
          </a:blipFill>
        </p:spPr>
      </p:sp>
      <p:sp>
        <p:nvSpPr>
          <p:cNvPr id="37" name="Freeform 10">
            <a:extLst>
              <a:ext uri="{FF2B5EF4-FFF2-40B4-BE49-F238E27FC236}">
                <a16:creationId xmlns:a16="http://schemas.microsoft.com/office/drawing/2014/main" id="{29AFF7D0-992F-4A5B-A3DC-1DB0D2339076}"/>
              </a:ext>
            </a:extLst>
          </p:cNvPr>
          <p:cNvSpPr/>
          <p:nvPr/>
        </p:nvSpPr>
        <p:spPr>
          <a:xfrm>
            <a:off x="5490561" y="4595656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469" t="-137235" r="-104578" b="-25225"/>
            </a:stretch>
          </a:blipFill>
        </p:spPr>
      </p:sp>
      <p:grpSp>
        <p:nvGrpSpPr>
          <p:cNvPr id="38" name="Group 12">
            <a:extLst>
              <a:ext uri="{FF2B5EF4-FFF2-40B4-BE49-F238E27FC236}">
                <a16:creationId xmlns:a16="http://schemas.microsoft.com/office/drawing/2014/main" id="{BCC5D37B-8DCD-4FB9-9406-86B0A12E1A99}"/>
              </a:ext>
            </a:extLst>
          </p:cNvPr>
          <p:cNvGrpSpPr/>
          <p:nvPr/>
        </p:nvGrpSpPr>
        <p:grpSpPr>
          <a:xfrm>
            <a:off x="8861487" y="7186042"/>
            <a:ext cx="4117162" cy="418337"/>
            <a:chOff x="0" y="-19049"/>
            <a:chExt cx="5489549" cy="557783"/>
          </a:xfrm>
        </p:grpSpPr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9319FA5A-99ED-4F49-81A4-335392B9DD05}"/>
                </a:ext>
              </a:extLst>
            </p:cNvPr>
            <p:cNvSpPr/>
            <p:nvPr/>
          </p:nvSpPr>
          <p:spPr>
            <a:xfrm>
              <a:off x="0" y="0"/>
              <a:ext cx="5489448" cy="538734"/>
            </a:xfrm>
            <a:custGeom>
              <a:avLst/>
              <a:gdLst/>
              <a:ahLst/>
              <a:cxnLst/>
              <a:rect l="l" t="t" r="r" b="b"/>
              <a:pathLst>
                <a:path w="5489448" h="53873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5338826" y="0"/>
                  </a:lnTo>
                  <a:cubicBezTo>
                    <a:pt x="5422011" y="0"/>
                    <a:pt x="5489448" y="67437"/>
                    <a:pt x="5489448" y="150622"/>
                  </a:cubicBezTo>
                  <a:lnTo>
                    <a:pt x="5489448" y="387985"/>
                  </a:lnTo>
                  <a:cubicBezTo>
                    <a:pt x="5489448" y="471170"/>
                    <a:pt x="5422011" y="538607"/>
                    <a:pt x="5338826" y="538607"/>
                  </a:cubicBezTo>
                  <a:lnTo>
                    <a:pt x="150622" y="538607"/>
                  </a:lnTo>
                  <a:cubicBezTo>
                    <a:pt x="67437" y="538734"/>
                    <a:pt x="0" y="471297"/>
                    <a:pt x="0" y="387985"/>
                  </a:cubicBezTo>
                  <a:close/>
                </a:path>
              </a:pathLst>
            </a:custGeom>
            <a:solidFill>
              <a:srgbClr val="5982DB"/>
            </a:solidFill>
          </p:spPr>
        </p:sp>
        <p:sp>
          <p:nvSpPr>
            <p:cNvPr id="40" name="TextBox 14">
              <a:extLst>
                <a:ext uri="{FF2B5EF4-FFF2-40B4-BE49-F238E27FC236}">
                  <a16:creationId xmlns:a16="http://schemas.microsoft.com/office/drawing/2014/main" id="{740526C2-4432-48B3-9D84-6483248AB265}"/>
                </a:ext>
              </a:extLst>
            </p:cNvPr>
            <p:cNvSpPr txBox="1"/>
            <p:nvPr/>
          </p:nvSpPr>
          <p:spPr>
            <a:xfrm>
              <a:off x="0" y="-19049"/>
              <a:ext cx="5489549" cy="55776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Administrador del Sistema GAMCC</a:t>
              </a:r>
            </a:p>
          </p:txBody>
        </p:sp>
      </p:grpSp>
      <p:grpSp>
        <p:nvGrpSpPr>
          <p:cNvPr id="41" name="Group 15">
            <a:extLst>
              <a:ext uri="{FF2B5EF4-FFF2-40B4-BE49-F238E27FC236}">
                <a16:creationId xmlns:a16="http://schemas.microsoft.com/office/drawing/2014/main" id="{4B3183B8-E4CD-45E7-AD89-D3E7EA837F33}"/>
              </a:ext>
            </a:extLst>
          </p:cNvPr>
          <p:cNvGrpSpPr/>
          <p:nvPr/>
        </p:nvGrpSpPr>
        <p:grpSpPr>
          <a:xfrm>
            <a:off x="6622499" y="3881798"/>
            <a:ext cx="4117162" cy="404039"/>
            <a:chOff x="0" y="0"/>
            <a:chExt cx="5489549" cy="538719"/>
          </a:xfrm>
        </p:grpSpPr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2FF41FA5-BF86-4D5C-A52A-92028C547654}"/>
                </a:ext>
              </a:extLst>
            </p:cNvPr>
            <p:cNvSpPr/>
            <p:nvPr/>
          </p:nvSpPr>
          <p:spPr>
            <a:xfrm>
              <a:off x="0" y="0"/>
              <a:ext cx="5489448" cy="538734"/>
            </a:xfrm>
            <a:custGeom>
              <a:avLst/>
              <a:gdLst/>
              <a:ahLst/>
              <a:cxnLst/>
              <a:rect l="l" t="t" r="r" b="b"/>
              <a:pathLst>
                <a:path w="5489448" h="53873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5338826" y="0"/>
                  </a:lnTo>
                  <a:cubicBezTo>
                    <a:pt x="5422011" y="0"/>
                    <a:pt x="5489448" y="67437"/>
                    <a:pt x="5489448" y="150622"/>
                  </a:cubicBezTo>
                  <a:lnTo>
                    <a:pt x="5489448" y="387985"/>
                  </a:lnTo>
                  <a:cubicBezTo>
                    <a:pt x="5489448" y="471170"/>
                    <a:pt x="5422011" y="538607"/>
                    <a:pt x="5338826" y="538607"/>
                  </a:cubicBezTo>
                  <a:lnTo>
                    <a:pt x="150622" y="538607"/>
                  </a:lnTo>
                  <a:cubicBezTo>
                    <a:pt x="67437" y="538734"/>
                    <a:pt x="0" y="471297"/>
                    <a:pt x="0" y="387985"/>
                  </a:cubicBezTo>
                  <a:close/>
                </a:path>
              </a:pathLst>
            </a:custGeom>
            <a:solidFill>
              <a:srgbClr val="5982DB"/>
            </a:solidFill>
          </p:spPr>
        </p:sp>
        <p:sp>
          <p:nvSpPr>
            <p:cNvPr id="43" name="TextBox 17">
              <a:extLst>
                <a:ext uri="{FF2B5EF4-FFF2-40B4-BE49-F238E27FC236}">
                  <a16:creationId xmlns:a16="http://schemas.microsoft.com/office/drawing/2014/main" id="{E5720FC5-8AEA-4086-A0C2-2151F9B4C600}"/>
                </a:ext>
              </a:extLst>
            </p:cNvPr>
            <p:cNvSpPr txBox="1"/>
            <p:nvPr/>
          </p:nvSpPr>
          <p:spPr>
            <a:xfrm>
              <a:off x="0" y="-19050"/>
              <a:ext cx="5489549" cy="55776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 dirty="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Jefe de Calidad de la Red</a:t>
              </a:r>
            </a:p>
          </p:txBody>
        </p:sp>
      </p:grpSp>
      <p:grpSp>
        <p:nvGrpSpPr>
          <p:cNvPr id="44" name="Group 18">
            <a:extLst>
              <a:ext uri="{FF2B5EF4-FFF2-40B4-BE49-F238E27FC236}">
                <a16:creationId xmlns:a16="http://schemas.microsoft.com/office/drawing/2014/main" id="{DA18AF25-F0B8-41E9-AC34-C2AAF496B560}"/>
              </a:ext>
            </a:extLst>
          </p:cNvPr>
          <p:cNvGrpSpPr/>
          <p:nvPr/>
        </p:nvGrpSpPr>
        <p:grpSpPr>
          <a:xfrm>
            <a:off x="11834399" y="3863970"/>
            <a:ext cx="4117162" cy="404039"/>
            <a:chOff x="0" y="0"/>
            <a:chExt cx="5489549" cy="538719"/>
          </a:xfrm>
        </p:grpSpPr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3E48899A-D53C-4986-B438-66C947CEEF1F}"/>
                </a:ext>
              </a:extLst>
            </p:cNvPr>
            <p:cNvSpPr/>
            <p:nvPr/>
          </p:nvSpPr>
          <p:spPr>
            <a:xfrm>
              <a:off x="0" y="0"/>
              <a:ext cx="5489448" cy="538734"/>
            </a:xfrm>
            <a:custGeom>
              <a:avLst/>
              <a:gdLst/>
              <a:ahLst/>
              <a:cxnLst/>
              <a:rect l="l" t="t" r="r" b="b"/>
              <a:pathLst>
                <a:path w="5489448" h="53873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5338826" y="0"/>
                  </a:lnTo>
                  <a:cubicBezTo>
                    <a:pt x="5422011" y="0"/>
                    <a:pt x="5489448" y="67437"/>
                    <a:pt x="5489448" y="150622"/>
                  </a:cubicBezTo>
                  <a:lnTo>
                    <a:pt x="5489448" y="387985"/>
                  </a:lnTo>
                  <a:cubicBezTo>
                    <a:pt x="5489448" y="471170"/>
                    <a:pt x="5422011" y="538607"/>
                    <a:pt x="5338826" y="538607"/>
                  </a:cubicBezTo>
                  <a:lnTo>
                    <a:pt x="150622" y="538607"/>
                  </a:lnTo>
                  <a:cubicBezTo>
                    <a:pt x="67437" y="538734"/>
                    <a:pt x="0" y="471297"/>
                    <a:pt x="0" y="387985"/>
                  </a:cubicBezTo>
                  <a:close/>
                </a:path>
              </a:pathLst>
            </a:custGeom>
            <a:solidFill>
              <a:srgbClr val="5982DB"/>
            </a:solidFill>
          </p:spPr>
          <p:txBody>
            <a:bodyPr/>
            <a:lstStyle/>
            <a:p>
              <a:endParaRPr lang="es-PE" dirty="0"/>
            </a:p>
          </p:txBody>
        </p:sp>
        <p:sp>
          <p:nvSpPr>
            <p:cNvPr id="46" name="TextBox 20">
              <a:extLst>
                <a:ext uri="{FF2B5EF4-FFF2-40B4-BE49-F238E27FC236}">
                  <a16:creationId xmlns:a16="http://schemas.microsoft.com/office/drawing/2014/main" id="{438EA0E6-1334-4328-BDB3-3EB56DF6339D}"/>
                </a:ext>
              </a:extLst>
            </p:cNvPr>
            <p:cNvSpPr txBox="1"/>
            <p:nvPr/>
          </p:nvSpPr>
          <p:spPr>
            <a:xfrm>
              <a:off x="0" y="-19050"/>
              <a:ext cx="5489549" cy="55776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 dirty="0" err="1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Sectorista</a:t>
              </a:r>
              <a:r>
                <a:rPr lang="en-US" sz="1600" dirty="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GAMCC (</a:t>
              </a:r>
              <a:r>
                <a:rPr lang="en-US" sz="1600" dirty="0" err="1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Sectorista</a:t>
              </a:r>
              <a:r>
                <a:rPr lang="en-US" sz="1600" dirty="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) </a:t>
              </a:r>
            </a:p>
          </p:txBody>
        </p:sp>
      </p:grpSp>
      <p:grpSp>
        <p:nvGrpSpPr>
          <p:cNvPr id="47" name="Group 21">
            <a:extLst>
              <a:ext uri="{FF2B5EF4-FFF2-40B4-BE49-F238E27FC236}">
                <a16:creationId xmlns:a16="http://schemas.microsoft.com/office/drawing/2014/main" id="{42D2300F-906F-4741-8AD8-7E63B8BBE7AF}"/>
              </a:ext>
            </a:extLst>
          </p:cNvPr>
          <p:cNvGrpSpPr/>
          <p:nvPr/>
        </p:nvGrpSpPr>
        <p:grpSpPr>
          <a:xfrm>
            <a:off x="4490576" y="7219390"/>
            <a:ext cx="4117162" cy="404039"/>
            <a:chOff x="0" y="0"/>
            <a:chExt cx="5489549" cy="538719"/>
          </a:xfrm>
        </p:grpSpPr>
        <p:sp>
          <p:nvSpPr>
            <p:cNvPr id="48" name="Freeform 22">
              <a:extLst>
                <a:ext uri="{FF2B5EF4-FFF2-40B4-BE49-F238E27FC236}">
                  <a16:creationId xmlns:a16="http://schemas.microsoft.com/office/drawing/2014/main" id="{384172E5-23AD-4CB2-90E0-111D6AC05597}"/>
                </a:ext>
              </a:extLst>
            </p:cNvPr>
            <p:cNvSpPr/>
            <p:nvPr/>
          </p:nvSpPr>
          <p:spPr>
            <a:xfrm>
              <a:off x="0" y="0"/>
              <a:ext cx="5489448" cy="538734"/>
            </a:xfrm>
            <a:custGeom>
              <a:avLst/>
              <a:gdLst/>
              <a:ahLst/>
              <a:cxnLst/>
              <a:rect l="l" t="t" r="r" b="b"/>
              <a:pathLst>
                <a:path w="5489448" h="53873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5338826" y="0"/>
                  </a:lnTo>
                  <a:cubicBezTo>
                    <a:pt x="5422011" y="0"/>
                    <a:pt x="5489448" y="67437"/>
                    <a:pt x="5489448" y="150622"/>
                  </a:cubicBezTo>
                  <a:lnTo>
                    <a:pt x="5489448" y="387985"/>
                  </a:lnTo>
                  <a:cubicBezTo>
                    <a:pt x="5489448" y="471170"/>
                    <a:pt x="5422011" y="538607"/>
                    <a:pt x="5338826" y="538607"/>
                  </a:cubicBezTo>
                  <a:lnTo>
                    <a:pt x="150622" y="538607"/>
                  </a:lnTo>
                  <a:cubicBezTo>
                    <a:pt x="67437" y="538734"/>
                    <a:pt x="0" y="471297"/>
                    <a:pt x="0" y="387985"/>
                  </a:cubicBezTo>
                  <a:close/>
                </a:path>
              </a:pathLst>
            </a:custGeom>
            <a:solidFill>
              <a:srgbClr val="5982DB"/>
            </a:solidFill>
          </p:spPr>
        </p:sp>
        <p:sp>
          <p:nvSpPr>
            <p:cNvPr id="49" name="TextBox 23">
              <a:extLst>
                <a:ext uri="{FF2B5EF4-FFF2-40B4-BE49-F238E27FC236}">
                  <a16:creationId xmlns:a16="http://schemas.microsoft.com/office/drawing/2014/main" id="{4008D154-FA89-475F-85C7-11238847CEB1}"/>
                </a:ext>
              </a:extLst>
            </p:cNvPr>
            <p:cNvSpPr txBox="1"/>
            <p:nvPr/>
          </p:nvSpPr>
          <p:spPr>
            <a:xfrm>
              <a:off x="0" y="-19050"/>
              <a:ext cx="5489549" cy="55776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 dirty="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Director/</a:t>
              </a:r>
              <a:r>
                <a:rPr lang="en-US" sz="1600" dirty="0" err="1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Gerente</a:t>
              </a:r>
              <a:r>
                <a:rPr lang="en-US" sz="1600" dirty="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 GAMCC</a:t>
              </a:r>
            </a:p>
          </p:txBody>
        </p:sp>
      </p:grpSp>
      <p:sp>
        <p:nvSpPr>
          <p:cNvPr id="50" name="Freeform 27">
            <a:extLst>
              <a:ext uri="{FF2B5EF4-FFF2-40B4-BE49-F238E27FC236}">
                <a16:creationId xmlns:a16="http://schemas.microsoft.com/office/drawing/2014/main" id="{26DA3963-01C6-41D7-A3B9-CE51075B62BD}"/>
              </a:ext>
            </a:extLst>
          </p:cNvPr>
          <p:cNvSpPr/>
          <p:nvPr/>
        </p:nvSpPr>
        <p:spPr>
          <a:xfrm>
            <a:off x="2667000" y="1468819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20" t="-19093" r="-196126" b="-143366"/>
            </a:stretch>
          </a:blipFill>
        </p:spPr>
      </p:sp>
      <p:grpSp>
        <p:nvGrpSpPr>
          <p:cNvPr id="51" name="Group 28">
            <a:extLst>
              <a:ext uri="{FF2B5EF4-FFF2-40B4-BE49-F238E27FC236}">
                <a16:creationId xmlns:a16="http://schemas.microsoft.com/office/drawing/2014/main" id="{F827F7B3-805B-424D-B076-6D03E6D9A608}"/>
              </a:ext>
            </a:extLst>
          </p:cNvPr>
          <p:cNvGrpSpPr/>
          <p:nvPr/>
        </p:nvGrpSpPr>
        <p:grpSpPr>
          <a:xfrm>
            <a:off x="1556945" y="3881797"/>
            <a:ext cx="4117162" cy="404039"/>
            <a:chOff x="0" y="0"/>
            <a:chExt cx="5489549" cy="538719"/>
          </a:xfrm>
        </p:grpSpPr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18CCEF41-D9F2-493A-AB16-05F7CC64A54E}"/>
                </a:ext>
              </a:extLst>
            </p:cNvPr>
            <p:cNvSpPr/>
            <p:nvPr/>
          </p:nvSpPr>
          <p:spPr>
            <a:xfrm>
              <a:off x="0" y="0"/>
              <a:ext cx="5489448" cy="538734"/>
            </a:xfrm>
            <a:custGeom>
              <a:avLst/>
              <a:gdLst/>
              <a:ahLst/>
              <a:cxnLst/>
              <a:rect l="l" t="t" r="r" b="b"/>
              <a:pathLst>
                <a:path w="5489448" h="53873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5338826" y="0"/>
                  </a:lnTo>
                  <a:cubicBezTo>
                    <a:pt x="5422011" y="0"/>
                    <a:pt x="5489448" y="67437"/>
                    <a:pt x="5489448" y="150622"/>
                  </a:cubicBezTo>
                  <a:lnTo>
                    <a:pt x="5489448" y="387985"/>
                  </a:lnTo>
                  <a:cubicBezTo>
                    <a:pt x="5489448" y="471170"/>
                    <a:pt x="5422011" y="538607"/>
                    <a:pt x="5338826" y="538607"/>
                  </a:cubicBezTo>
                  <a:lnTo>
                    <a:pt x="150622" y="538607"/>
                  </a:lnTo>
                  <a:cubicBezTo>
                    <a:pt x="67437" y="538734"/>
                    <a:pt x="0" y="471297"/>
                    <a:pt x="0" y="387985"/>
                  </a:cubicBezTo>
                  <a:close/>
                </a:path>
              </a:pathLst>
            </a:custGeom>
            <a:solidFill>
              <a:srgbClr val="5982DB"/>
            </a:solidFill>
          </p:spPr>
        </p:sp>
        <p:sp>
          <p:nvSpPr>
            <p:cNvPr id="53" name="TextBox 30">
              <a:extLst>
                <a:ext uri="{FF2B5EF4-FFF2-40B4-BE49-F238E27FC236}">
                  <a16:creationId xmlns:a16="http://schemas.microsoft.com/office/drawing/2014/main" id="{1BDFA6DE-9565-4B80-AF3B-1CC2D852DA94}"/>
                </a:ext>
              </a:extLst>
            </p:cNvPr>
            <p:cNvSpPr txBox="1"/>
            <p:nvPr/>
          </p:nvSpPr>
          <p:spPr>
            <a:xfrm>
              <a:off x="0" y="-19050"/>
              <a:ext cx="5489549" cy="55776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Usuario de IPRESS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811032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0A34FF86-BF38-4871-8984-2B968FD407AE}"/>
              </a:ext>
            </a:extLst>
          </p:cNvPr>
          <p:cNvGrpSpPr/>
          <p:nvPr/>
        </p:nvGrpSpPr>
        <p:grpSpPr>
          <a:xfrm>
            <a:off x="419725" y="374753"/>
            <a:ext cx="4392908" cy="779490"/>
            <a:chOff x="0" y="0"/>
            <a:chExt cx="5857211" cy="1039320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94F9676-4F22-44A3-AB16-E88F4DAD9471}"/>
                </a:ext>
              </a:extLst>
            </p:cNvPr>
            <p:cNvSpPr/>
            <p:nvPr/>
          </p:nvSpPr>
          <p:spPr>
            <a:xfrm>
              <a:off x="0" y="0"/>
              <a:ext cx="5857240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8CFB502D-D34A-4659-A0BB-8C0C4FF8689C}"/>
                </a:ext>
              </a:extLst>
            </p:cNvPr>
            <p:cNvSpPr txBox="1"/>
            <p:nvPr/>
          </p:nvSpPr>
          <p:spPr>
            <a:xfrm>
              <a:off x="0" y="-19050"/>
              <a:ext cx="5857211" cy="1058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USUARIO IPRESS</a:t>
              </a:r>
            </a:p>
          </p:txBody>
        </p:sp>
      </p:grpSp>
      <p:sp>
        <p:nvSpPr>
          <p:cNvPr id="5" name="Freeform 27">
            <a:extLst>
              <a:ext uri="{FF2B5EF4-FFF2-40B4-BE49-F238E27FC236}">
                <a16:creationId xmlns:a16="http://schemas.microsoft.com/office/drawing/2014/main" id="{1BAC7C9F-229F-4F7D-AC44-4E4F9E4D1E4A}"/>
              </a:ext>
            </a:extLst>
          </p:cNvPr>
          <p:cNvSpPr/>
          <p:nvPr/>
        </p:nvSpPr>
        <p:spPr>
          <a:xfrm>
            <a:off x="762000" y="1514710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20" t="-19093" r="-196126" b="-143366"/>
            </a:stretch>
          </a:blipFill>
        </p:spPr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90CDF5BC-26D9-415F-8995-F28EF721F640}"/>
              </a:ext>
            </a:extLst>
          </p:cNvPr>
          <p:cNvSpPr txBox="1"/>
          <p:nvPr/>
        </p:nvSpPr>
        <p:spPr>
          <a:xfrm>
            <a:off x="3048000" y="1514710"/>
            <a:ext cx="12801600" cy="5617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en una bandeja la autoevaluación del año actual e histórico.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Generar documentos basados en plantillas para cada hito. (hito: 1,2,3,4,5,6,7,8,9)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Cargar la documentación correspondiente a un hito (considerar la presentación fuera de la fecha de vencimiento), formato PDF. *Validación a futuro con IA.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que la carga de documentación de los hitos se realice en forma </a:t>
            </a:r>
            <a:r>
              <a:rPr lang="es-PE" sz="240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secuencial con la excepción del hito de “comunicación de inicio de autoevaluación” el cual queda libre de ingreso(</a:t>
            </a: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regla)</a:t>
            </a:r>
            <a:endParaRPr lang="es-PE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Enviar un correo electrónico automático al </a:t>
            </a: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cargar el 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documento de un hito.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los días de vencimiento respecto a la presentación de un hito.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el estatus de los documentos presentados para los hitos.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Subsanar la presentación de un Hito cuando está en observado.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Generar/Visualizar la trazabilidad de la presentación de un documento de Hito (usuario, estado, fecha, días de vencimiento).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Registrar datos: tipo de cargo, red, IPRESS , Nivel en el modulo de Solicitud de Asistencia Técnica/Capacitación y Revisión Documentaria</a:t>
            </a:r>
            <a:endParaRPr lang="es-PE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83570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001A6CDF-1CB5-4EDC-ACEC-C354B323D2ED}"/>
              </a:ext>
            </a:extLst>
          </p:cNvPr>
          <p:cNvGrpSpPr/>
          <p:nvPr/>
        </p:nvGrpSpPr>
        <p:grpSpPr>
          <a:xfrm>
            <a:off x="381000" y="360449"/>
            <a:ext cx="5904875" cy="793813"/>
            <a:chOff x="-1" y="-19049"/>
            <a:chExt cx="7873167" cy="1058417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2175C34B-CBBB-4E51-9302-20BD853F2E10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5E7211A8-40E6-49C0-9069-3507EC88F5A7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JEFE DE CALIDAD DE LA RED</a:t>
              </a: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D30AD461-1456-469E-8F66-BC8458BAB793}"/>
              </a:ext>
            </a:extLst>
          </p:cNvPr>
          <p:cNvSpPr txBox="1"/>
          <p:nvPr/>
        </p:nvSpPr>
        <p:spPr>
          <a:xfrm>
            <a:off x="3048000" y="1514710"/>
            <a:ext cx="12801600" cy="6115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Mostrar en una bandeja el listado de todas las autoevaluaciones de su RED.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Generar documento basados en la plantilla.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Aprobar/Observar y enviar las observaciones respecto a la documentación al Rol IPRESS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Reportar documentos asociados a los Hitos para las IPRESS a su cargo (múltiple o individual para hitos:  1,4,5)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Enviar las Aprobaciones a los Evaluadores GAMCC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Enviar un correo electrónico automático al realizar la aprobación/observación de los documentos a la IPRESS.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los días de vencimiento respecto a la presentación de un hito.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el estatus de los documentos presentados para los hitos.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Generar/Visualizar la trazabilidad de la presentación de un documento de Hito (usuario, estado, fecha, días de vencimiento).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Generar formato para solicitud de Asistencia Técnica.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Registrar datos: tipo de cargo, red, IPRESS , Nivel en el modulo de Solicitud de Asistencia Técnica/Capacitación y Revisión Documentaria (múltiple o individual)</a:t>
            </a:r>
            <a:endParaRPr lang="es-PE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3295B963-BB16-4637-9676-A66CCCAC497D}"/>
              </a:ext>
            </a:extLst>
          </p:cNvPr>
          <p:cNvSpPr/>
          <p:nvPr/>
        </p:nvSpPr>
        <p:spPr>
          <a:xfrm>
            <a:off x="381000" y="1333500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33" t="-137235" r="-202113" b="-25225"/>
            </a:stretch>
          </a:blipFill>
        </p:spPr>
      </p:sp>
    </p:spTree>
    <p:extLst>
      <p:ext uri="{BB962C8B-B14F-4D97-AF65-F5344CB8AC3E}">
        <p14:creationId xmlns:p14="http://schemas.microsoft.com/office/powerpoint/2010/main" val="6681688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>
            <a:extLst>
              <a:ext uri="{FF2B5EF4-FFF2-40B4-BE49-F238E27FC236}">
                <a16:creationId xmlns:a16="http://schemas.microsoft.com/office/drawing/2014/main" id="{DE8CD966-E62F-4585-A46D-4A32A435348B}"/>
              </a:ext>
            </a:extLst>
          </p:cNvPr>
          <p:cNvGrpSpPr/>
          <p:nvPr/>
        </p:nvGrpSpPr>
        <p:grpSpPr>
          <a:xfrm>
            <a:off x="381000" y="360449"/>
            <a:ext cx="5904875" cy="793813"/>
            <a:chOff x="-1" y="-19049"/>
            <a:chExt cx="7873167" cy="1058417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61AE607-8632-4711-84D3-CAF4E7457734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AE91F2D9-B9C1-496A-A37E-8570A031B250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SECTORISTA GAMCC</a:t>
              </a:r>
            </a:p>
          </p:txBody>
        </p:sp>
      </p:grpSp>
      <p:sp>
        <p:nvSpPr>
          <p:cNvPr id="10" name="TextBox 8">
            <a:extLst>
              <a:ext uri="{FF2B5EF4-FFF2-40B4-BE49-F238E27FC236}">
                <a16:creationId xmlns:a16="http://schemas.microsoft.com/office/drawing/2014/main" id="{57375C74-23DA-441A-869E-BE7FCE5644B2}"/>
              </a:ext>
            </a:extLst>
          </p:cNvPr>
          <p:cNvSpPr txBox="1"/>
          <p:nvPr/>
        </p:nvSpPr>
        <p:spPr>
          <a:xfrm>
            <a:off x="2438400" y="1203266"/>
            <a:ext cx="15849600" cy="7125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07000"/>
              </a:lnSpc>
            </a:pPr>
            <a:r>
              <a:rPr lang="es-PE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Revisión Documentaria: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una </a:t>
            </a:r>
            <a:r>
              <a:rPr lang="es-PE" sz="2400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Bandeja de Revisión Documentaria  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listado de todas las autoevaluaciones que corresponden a las IPRESS asignadas.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bandeja debe tener filtro por: Año, IPRESS, Red, Macrorregión, Fecha de Asignación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Aprobar el Hito y cerrado automático de revisión documentaria por Hito.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Observar el Hito aprobado por los jefes de Calidad, registrando una observación.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Enviar un correo electrónico al realizar la aprobación/observación de los documentos al correo electrónico del usuario IPRESS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Generar/Visualizar la trazabilidad de la presentación de un documento de Hito (usuario, estado, fecha, días de vencimiento).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s-PE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PE" sz="2400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AT/Capacitaciones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Administración de la programación/reprogramación/Cancelación de las Capacitaciones y Asistencias Técnicas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Registrar las causas de las reprogramaciones: falta de asistentes, cambios de personal, disponibilidad IPRES, otras.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una </a:t>
            </a:r>
            <a:r>
              <a:rPr lang="es-PE" sz="2400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Bandeja de Programación</a:t>
            </a: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listado de todas las AT/Capacitaciones programas y el status actual.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bandeja debe tener filtro por: Año, IPRESS, Red, Macrorregión, No de Expediente.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en un calendario la programación de AT/Capacitaciones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Programar en calendario Outlook al programar una AT/Capacitación</a:t>
            </a:r>
            <a:endParaRPr lang="es-PE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15503B0-6FC1-46D7-9D5D-5AE4C75E861B}"/>
              </a:ext>
            </a:extLst>
          </p:cNvPr>
          <p:cNvSpPr/>
          <p:nvPr/>
        </p:nvSpPr>
        <p:spPr>
          <a:xfrm>
            <a:off x="381000" y="1333465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7708" t="-17477" r="-106338" b="-144983"/>
            </a:stretch>
          </a:blipFill>
        </p:spPr>
      </p:sp>
    </p:spTree>
    <p:extLst>
      <p:ext uri="{BB962C8B-B14F-4D97-AF65-F5344CB8AC3E}">
        <p14:creationId xmlns:p14="http://schemas.microsoft.com/office/powerpoint/2010/main" val="80723674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D4C06F94-5E44-40C8-B9F7-670D04201A9E}"/>
              </a:ext>
            </a:extLst>
          </p:cNvPr>
          <p:cNvGrpSpPr/>
          <p:nvPr/>
        </p:nvGrpSpPr>
        <p:grpSpPr>
          <a:xfrm>
            <a:off x="381000" y="360449"/>
            <a:ext cx="5904875" cy="793813"/>
            <a:chOff x="-1" y="-19049"/>
            <a:chExt cx="7873167" cy="1058417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2BDF3543-7C68-479C-96FF-29FEB2E80E60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98CBEA34-40A9-440B-8FED-DF8420F97E38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DIRECTOR/GERENTE GAMCC</a:t>
              </a: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B3DCC63D-0062-48A8-9F1D-4AFB1B3578A6}"/>
              </a:ext>
            </a:extLst>
          </p:cNvPr>
          <p:cNvSpPr txBox="1"/>
          <p:nvPr/>
        </p:nvSpPr>
        <p:spPr>
          <a:xfrm>
            <a:off x="2438400" y="1417142"/>
            <a:ext cx="15849600" cy="5545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</a:pPr>
            <a:r>
              <a:rPr lang="es-PE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Revisión Documentaria: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Configurar 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directiva de programación para el proceso de acreditación (nombre, descripción, fecha de inicio y vencimiento)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Registrar metas del tiempo de respuesta de atención (</a:t>
            </a: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medición por sectorista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Activar/Cerrar el proceso de acreditación para el año.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Reasignar la revisión documentaria por sectorista (cambio de responsable por IPRESS)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estadísticas para todo el proceso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s-PE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PE" sz="2400" b="1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AT/Capacitaciones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la programación/reprogramación/Cancelación de las Capacitaciones y Asistencias Técnicas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Reprogramar las Capacitaciones y Asistencias Técnicas por 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sectorista (cambio de responsable por IPRESS)</a:t>
            </a:r>
            <a:endParaRPr lang="es-PE" sz="24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las causas de las reprogramaciones: falta de asistentes, cambios de personal, disponibilidad IPRES, otras.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Visualizar en un calendario la programación de AT/Capacitaciones</a:t>
            </a: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C93C9D63-B24E-42E0-926C-76E033E16C48}"/>
              </a:ext>
            </a:extLst>
          </p:cNvPr>
          <p:cNvSpPr/>
          <p:nvPr/>
        </p:nvSpPr>
        <p:spPr>
          <a:xfrm>
            <a:off x="381000" y="1333500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469" t="-137235" r="-104578" b="-25225"/>
            </a:stretch>
          </a:blipFill>
        </p:spPr>
      </p:sp>
    </p:spTree>
    <p:extLst>
      <p:ext uri="{BB962C8B-B14F-4D97-AF65-F5344CB8AC3E}">
        <p14:creationId xmlns:p14="http://schemas.microsoft.com/office/powerpoint/2010/main" val="130939910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B08B0DF5-7728-4B5C-BDAA-044FA696F81D}"/>
              </a:ext>
            </a:extLst>
          </p:cNvPr>
          <p:cNvGrpSpPr/>
          <p:nvPr/>
        </p:nvGrpSpPr>
        <p:grpSpPr>
          <a:xfrm>
            <a:off x="381000" y="360449"/>
            <a:ext cx="5904875" cy="793813"/>
            <a:chOff x="-1" y="-19049"/>
            <a:chExt cx="7873167" cy="1058417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B2A57DD-82F3-4C06-A6A8-3727B62006B3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62203E49-EB8A-4808-80A9-18FB9D882B67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ADMINISTRADOR</a:t>
              </a: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3AB1AE00-93B8-4DBC-8EAC-262AE8B86B24}"/>
              </a:ext>
            </a:extLst>
          </p:cNvPr>
          <p:cNvSpPr txBox="1"/>
          <p:nvPr/>
        </p:nvSpPr>
        <p:spPr>
          <a:xfrm>
            <a:off x="3048000" y="1514710"/>
            <a:ext cx="12801600" cy="4534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Registrar y administrar el acceso al sistema a los diferentes roles: Gerente/Director GAMCC, Sectorista, </a:t>
            </a: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Usuario de la 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RED, Usuario IPRESS.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Asignar IPRESS para el seguimiento al Rol Evaluador GAMCC.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Gestionar los accesos a la plataforma validando el usuario oficial de la institución.</a:t>
            </a:r>
            <a:endParaRPr lang="es-PE" sz="2400" dirty="0">
              <a:solidFill>
                <a:schemeClr val="accent1"/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</a:t>
            </a: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ío de correo electrónico para indicar la activación de la cuenta.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Activar/Desactivar accesos al sistema, guardando una trazabilidad de las activaciones/desactivaciones (fecha, usuario)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asignar más de un rol a un usuario.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que el Rol jefe de Calidad de la IPRESS pueda dar acceso al sistema.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Administrar el contenido de las plantillas.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PE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Configuración de indicadores.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21FA8AA4-893A-49BB-B44C-56A03332BE2E}"/>
              </a:ext>
            </a:extLst>
          </p:cNvPr>
          <p:cNvSpPr/>
          <p:nvPr/>
        </p:nvSpPr>
        <p:spPr>
          <a:xfrm>
            <a:off x="404191" y="1538029"/>
            <a:ext cx="1897053" cy="2197642"/>
          </a:xfrm>
          <a:custGeom>
            <a:avLst/>
            <a:gdLst/>
            <a:ahLst/>
            <a:cxnLst/>
            <a:rect l="l" t="t" r="r" b="b"/>
            <a:pathLst>
              <a:path w="1897053" h="2197642">
                <a:moveTo>
                  <a:pt x="0" y="0"/>
                </a:moveTo>
                <a:lnTo>
                  <a:pt x="1897053" y="0"/>
                </a:lnTo>
                <a:lnTo>
                  <a:pt x="1897053" y="2197642"/>
                </a:lnTo>
                <a:lnTo>
                  <a:pt x="0" y="2197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2075" t="-15044" r="-11971" b="-147416"/>
            </a:stretch>
          </a:blipFill>
        </p:spPr>
      </p:sp>
    </p:spTree>
    <p:extLst>
      <p:ext uri="{BB962C8B-B14F-4D97-AF65-F5344CB8AC3E}">
        <p14:creationId xmlns:p14="http://schemas.microsoft.com/office/powerpoint/2010/main" val="235520279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D63AC176-10A6-4173-9E52-5ABD65C63DAF}"/>
              </a:ext>
            </a:extLst>
          </p:cNvPr>
          <p:cNvGrpSpPr/>
          <p:nvPr/>
        </p:nvGrpSpPr>
        <p:grpSpPr>
          <a:xfrm>
            <a:off x="381000" y="360449"/>
            <a:ext cx="7467600" cy="793813"/>
            <a:chOff x="-1" y="-19049"/>
            <a:chExt cx="7873167" cy="1058417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6C1BC82-4F12-4EF8-92C7-A3A7BD7C92BC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835AA2E6-82C2-4928-A2D3-AC5DC3016289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OTROS REQUERIMIENTOS FUNCIONALES</a:t>
              </a: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BAA754EC-2886-452B-A176-BF117118B6A3}"/>
              </a:ext>
            </a:extLst>
          </p:cNvPr>
          <p:cNvSpPr txBox="1"/>
          <p:nvPr/>
        </p:nvSpPr>
        <p:spPr>
          <a:xfrm>
            <a:off x="3261959" y="2030649"/>
            <a:ext cx="12801600" cy="1768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s-MX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Alerta al vencimiento del Hito, X dias antes.</a:t>
            </a:r>
            <a:endParaRPr lang="es-PE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Dias de retraso: Cuando el tiempo de atención supere el tiempo promedio de atención por Hito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4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Alerta de AT/Capacitación vencidas sin registro de No. de Expediente.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s-MX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Alerta de AT/Capacitación programada sin ser atendidas</a:t>
            </a:r>
            <a:endParaRPr lang="es-PE" sz="32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81F005-682D-4A6E-BA31-F21B467FC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14676"/>
            <a:ext cx="1819275" cy="1866900"/>
          </a:xfrm>
          <a:prstGeom prst="rect">
            <a:avLst/>
          </a:prstGeom>
        </p:spPr>
      </p:pic>
      <p:grpSp>
        <p:nvGrpSpPr>
          <p:cNvPr id="7" name="Group 28">
            <a:extLst>
              <a:ext uri="{FF2B5EF4-FFF2-40B4-BE49-F238E27FC236}">
                <a16:creationId xmlns:a16="http://schemas.microsoft.com/office/drawing/2014/main" id="{9F73B6BC-5AFC-44A1-AB44-47B0EE4E5650}"/>
              </a:ext>
            </a:extLst>
          </p:cNvPr>
          <p:cNvGrpSpPr/>
          <p:nvPr/>
        </p:nvGrpSpPr>
        <p:grpSpPr>
          <a:xfrm>
            <a:off x="530862" y="3584108"/>
            <a:ext cx="2188525" cy="669187"/>
            <a:chOff x="-29530" y="0"/>
            <a:chExt cx="5518978" cy="662879"/>
          </a:xfrm>
        </p:grpSpPr>
        <p:sp>
          <p:nvSpPr>
            <p:cNvPr id="8" name="Freeform 29">
              <a:extLst>
                <a:ext uri="{FF2B5EF4-FFF2-40B4-BE49-F238E27FC236}">
                  <a16:creationId xmlns:a16="http://schemas.microsoft.com/office/drawing/2014/main" id="{2FE1942E-BDA4-4CD4-98EE-7C94F4B7FD21}"/>
                </a:ext>
              </a:extLst>
            </p:cNvPr>
            <p:cNvSpPr/>
            <p:nvPr/>
          </p:nvSpPr>
          <p:spPr>
            <a:xfrm>
              <a:off x="0" y="0"/>
              <a:ext cx="5489448" cy="538734"/>
            </a:xfrm>
            <a:custGeom>
              <a:avLst/>
              <a:gdLst/>
              <a:ahLst/>
              <a:cxnLst/>
              <a:rect l="l" t="t" r="r" b="b"/>
              <a:pathLst>
                <a:path w="5489448" h="53873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5338826" y="0"/>
                  </a:lnTo>
                  <a:cubicBezTo>
                    <a:pt x="5422011" y="0"/>
                    <a:pt x="5489448" y="67437"/>
                    <a:pt x="5489448" y="150622"/>
                  </a:cubicBezTo>
                  <a:lnTo>
                    <a:pt x="5489448" y="387985"/>
                  </a:lnTo>
                  <a:cubicBezTo>
                    <a:pt x="5489448" y="471170"/>
                    <a:pt x="5422011" y="538607"/>
                    <a:pt x="5338826" y="538607"/>
                  </a:cubicBezTo>
                  <a:lnTo>
                    <a:pt x="150622" y="538607"/>
                  </a:lnTo>
                  <a:cubicBezTo>
                    <a:pt x="67437" y="538734"/>
                    <a:pt x="0" y="471297"/>
                    <a:pt x="0" y="387985"/>
                  </a:cubicBezTo>
                  <a:close/>
                </a:path>
              </a:pathLst>
            </a:custGeom>
            <a:solidFill>
              <a:srgbClr val="5982DB"/>
            </a:solidFill>
          </p:spPr>
        </p:sp>
        <p:sp>
          <p:nvSpPr>
            <p:cNvPr id="9" name="TextBox 30">
              <a:extLst>
                <a:ext uri="{FF2B5EF4-FFF2-40B4-BE49-F238E27FC236}">
                  <a16:creationId xmlns:a16="http://schemas.microsoft.com/office/drawing/2014/main" id="{DC750C81-019C-432B-A894-FAA6B72D5684}"/>
                </a:ext>
              </a:extLst>
            </p:cNvPr>
            <p:cNvSpPr txBox="1"/>
            <p:nvPr/>
          </p:nvSpPr>
          <p:spPr>
            <a:xfrm>
              <a:off x="-29530" y="105110"/>
              <a:ext cx="5489549" cy="55776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20"/>
                </a:lnSpc>
              </a:pPr>
              <a:r>
                <a:rPr lang="en-US" sz="2000" b="1" dirty="0">
                  <a:solidFill>
                    <a:srgbClr val="F2F2F2"/>
                  </a:solidFill>
                  <a:latin typeface="Arimo"/>
                  <a:ea typeface="Arimo"/>
                  <a:cs typeface="Arimo"/>
                  <a:sym typeface="Arimo"/>
                </a:rPr>
                <a:t>ALERTAS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1A17927F-D050-4DD2-A2A9-EBF462759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42" y="5128831"/>
            <a:ext cx="1743075" cy="1809750"/>
          </a:xfrm>
          <a:prstGeom prst="rect">
            <a:avLst/>
          </a:prstGeom>
        </p:spPr>
      </p:pic>
      <p:sp>
        <p:nvSpPr>
          <p:cNvPr id="11" name="Freeform 29">
            <a:extLst>
              <a:ext uri="{FF2B5EF4-FFF2-40B4-BE49-F238E27FC236}">
                <a16:creationId xmlns:a16="http://schemas.microsoft.com/office/drawing/2014/main" id="{AB759220-48ED-4C32-9AA6-9949C5200D36}"/>
              </a:ext>
            </a:extLst>
          </p:cNvPr>
          <p:cNvSpPr/>
          <p:nvPr/>
        </p:nvSpPr>
        <p:spPr>
          <a:xfrm>
            <a:off x="419099" y="7263412"/>
            <a:ext cx="2842859" cy="779526"/>
          </a:xfrm>
          <a:custGeom>
            <a:avLst/>
            <a:gdLst/>
            <a:ahLst/>
            <a:cxnLst/>
            <a:rect l="l" t="t" r="r" b="b"/>
            <a:pathLst>
              <a:path w="5489448" h="538734">
                <a:moveTo>
                  <a:pt x="0" y="150622"/>
                </a:moveTo>
                <a:cubicBezTo>
                  <a:pt x="0" y="67437"/>
                  <a:pt x="67437" y="0"/>
                  <a:pt x="150622" y="0"/>
                </a:cubicBezTo>
                <a:lnTo>
                  <a:pt x="5338826" y="0"/>
                </a:lnTo>
                <a:cubicBezTo>
                  <a:pt x="5422011" y="0"/>
                  <a:pt x="5489448" y="67437"/>
                  <a:pt x="5489448" y="150622"/>
                </a:cubicBezTo>
                <a:lnTo>
                  <a:pt x="5489448" y="387985"/>
                </a:lnTo>
                <a:cubicBezTo>
                  <a:pt x="5489448" y="471170"/>
                  <a:pt x="5422011" y="538607"/>
                  <a:pt x="5338826" y="538607"/>
                </a:cubicBezTo>
                <a:lnTo>
                  <a:pt x="150622" y="538607"/>
                </a:lnTo>
                <a:cubicBezTo>
                  <a:pt x="67437" y="538734"/>
                  <a:pt x="0" y="471297"/>
                  <a:pt x="0" y="387985"/>
                </a:cubicBezTo>
                <a:close/>
              </a:path>
            </a:pathLst>
          </a:custGeom>
          <a:solidFill>
            <a:srgbClr val="5982DB"/>
          </a:solidFill>
        </p:spPr>
        <p:txBody>
          <a:bodyPr/>
          <a:lstStyle/>
          <a:p>
            <a:pPr algn="ctr"/>
            <a:r>
              <a:rPr lang="es-MX" sz="2400" b="1" dirty="0">
                <a:solidFill>
                  <a:srgbClr val="FFFFFF"/>
                </a:solidFill>
              </a:rPr>
              <a:t>Estado del Avance de la Autoevaluación</a:t>
            </a:r>
            <a:endParaRPr lang="es-PE" sz="2400" b="1" dirty="0">
              <a:solidFill>
                <a:srgbClr val="FFFFFF"/>
              </a:solidFill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AB3DED87-4F0A-4766-BC10-0E81CC9CF6E0}"/>
              </a:ext>
            </a:extLst>
          </p:cNvPr>
          <p:cNvSpPr txBox="1"/>
          <p:nvPr/>
        </p:nvSpPr>
        <p:spPr>
          <a:xfrm>
            <a:off x="3429000" y="5449700"/>
            <a:ext cx="12130441" cy="1563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ct val="107000"/>
              </a:lnSpc>
              <a:buAutoNum type="arabicPeriod"/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Mostrar porcentaje de avance en el proceso. (X % del 100%)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AutoNum type="arabicPeriod"/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Mostrar visualmente el Hito en el que se encuentra (3/9 hitos) 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AutoNum type="arabicPeriod"/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Mostrar la Fase: Del Hito 1-4 – Fase de Planificación / del Hito 5-9 – Fase de Ejecución</a:t>
            </a:r>
          </a:p>
          <a:p>
            <a:pPr marL="342900" lvl="0" indent="-342900">
              <a:lnSpc>
                <a:spcPct val="107000"/>
              </a:lnSpc>
              <a:buAutoNum type="arabicPeriod"/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Mostrar el calendario de la programación anual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14019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259C8C56-CAF4-4549-927F-3B59D1C610BF}"/>
              </a:ext>
            </a:extLst>
          </p:cNvPr>
          <p:cNvGrpSpPr/>
          <p:nvPr/>
        </p:nvGrpSpPr>
        <p:grpSpPr>
          <a:xfrm>
            <a:off x="381000" y="374736"/>
            <a:ext cx="7848600" cy="730164"/>
            <a:chOff x="-1" y="0"/>
            <a:chExt cx="7873167" cy="1219123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D11F44B-9EAD-4AF9-A6AE-C5F0479CA0DD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4879E68E-F4B2-4D26-851B-D4C18AB62668}"/>
                </a:ext>
              </a:extLst>
            </p:cNvPr>
            <p:cNvSpPr txBox="1"/>
            <p:nvPr/>
          </p:nvSpPr>
          <p:spPr>
            <a:xfrm>
              <a:off x="-1" y="455756"/>
              <a:ext cx="7873167" cy="7633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OTROS REQUERIMIENTOS FUNCIONALES</a:t>
              </a:r>
            </a:p>
            <a:p>
              <a:pPr algn="ctr">
                <a:lnSpc>
                  <a:spcPts val="3359"/>
                </a:lnSpc>
              </a:pPr>
              <a:endPara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BB55EA33-DBD6-4B23-ABC2-6AE3E00563C0}"/>
              </a:ext>
            </a:extLst>
          </p:cNvPr>
          <p:cNvSpPr txBox="1"/>
          <p:nvPr/>
        </p:nvSpPr>
        <p:spPr>
          <a:xfrm>
            <a:off x="3810000" y="1885950"/>
            <a:ext cx="12801600" cy="3862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Generador de Plantillas de Documentos para cada Hito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Generar un </a:t>
            </a:r>
            <a:r>
              <a:rPr lang="es-PE" sz="240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</a:t>
            </a:r>
            <a:r>
              <a:rPr lang="es-PE" sz="2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atbot</a:t>
            </a: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 Asistente Virtual para resolver consultas relacionadas a las fuentes auditables.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Proporcionar ayuda durante el uso de cada funcionalidad para guiar al usuario en el proceso. 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PE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AT/Capacitaciones: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Registro de asistentes a la capacitaciones y asistencias (formulario externo)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82A7A1-3ED1-4E48-A212-99E82F8FF5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44" t="6167" r="4678"/>
          <a:stretch/>
        </p:blipFill>
        <p:spPr>
          <a:xfrm>
            <a:off x="609601" y="1866900"/>
            <a:ext cx="2514600" cy="282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6960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2E75CEF7-7DF0-4B4D-B5F5-FBB0317F4A14}"/>
              </a:ext>
            </a:extLst>
          </p:cNvPr>
          <p:cNvGrpSpPr/>
          <p:nvPr/>
        </p:nvGrpSpPr>
        <p:grpSpPr>
          <a:xfrm>
            <a:off x="381000" y="360449"/>
            <a:ext cx="7467600" cy="793813"/>
            <a:chOff x="-1" y="-19049"/>
            <a:chExt cx="7873167" cy="1058417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863260E-726B-428E-9F84-18D6386C12EF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/>
            <a:lstStyle/>
            <a:p>
              <a:endParaRPr lang="es-PE" dirty="0"/>
            </a:p>
          </p:txBody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013BDF18-E28F-4066-8A1F-E80D336811C4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ESTADOS DE REVISIÓN DOCUMENTARIA</a:t>
              </a: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C403C9DB-4840-471C-8BF2-E523928935B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154227"/>
            <a:ext cx="11125200" cy="437027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F1916B1-5DBC-447F-9C98-A5A8255E5B0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657600" y="5497396"/>
            <a:ext cx="96774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3993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8D0F3209-52E4-42B3-8F9E-A34AE03FA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862" y="1714500"/>
            <a:ext cx="90582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4">
            <a:extLst>
              <a:ext uri="{FF2B5EF4-FFF2-40B4-BE49-F238E27FC236}">
                <a16:creationId xmlns:a16="http://schemas.microsoft.com/office/drawing/2014/main" id="{C84F59A1-135D-47DE-83C0-3DE4190D0E53}"/>
              </a:ext>
            </a:extLst>
          </p:cNvPr>
          <p:cNvGrpSpPr/>
          <p:nvPr/>
        </p:nvGrpSpPr>
        <p:grpSpPr>
          <a:xfrm>
            <a:off x="381000" y="360449"/>
            <a:ext cx="7467600" cy="793813"/>
            <a:chOff x="-1" y="-19049"/>
            <a:chExt cx="7873167" cy="1058417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2C7D95E-7BEE-45A4-B2F2-E6914DE91DD2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txBody>
            <a:bodyPr/>
            <a:lstStyle/>
            <a:p>
              <a:endParaRPr lang="es-PE" dirty="0"/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7B8AFD9F-E934-4C6D-AD3F-D86DF92CAC8C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ESTADOS DE AT/CAPACITACION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47832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upo 61">
            <a:extLst>
              <a:ext uri="{FF2B5EF4-FFF2-40B4-BE49-F238E27FC236}">
                <a16:creationId xmlns:a16="http://schemas.microsoft.com/office/drawing/2014/main" id="{8FA76541-D6EC-467B-BBB8-2554C5FE5138}"/>
              </a:ext>
            </a:extLst>
          </p:cNvPr>
          <p:cNvGrpSpPr/>
          <p:nvPr/>
        </p:nvGrpSpPr>
        <p:grpSpPr>
          <a:xfrm>
            <a:off x="381000" y="2955239"/>
            <a:ext cx="11658600" cy="6149130"/>
            <a:chOff x="3747791" y="500806"/>
            <a:chExt cx="12496801" cy="6620401"/>
          </a:xfrm>
        </p:grpSpPr>
        <p:pic>
          <p:nvPicPr>
            <p:cNvPr id="61" name="Imagen 60">
              <a:extLst>
                <a:ext uri="{FF2B5EF4-FFF2-40B4-BE49-F238E27FC236}">
                  <a16:creationId xmlns:a16="http://schemas.microsoft.com/office/drawing/2014/main" id="{70DC136F-5EA0-4DE0-869E-3A07B2B792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286" b="1932"/>
            <a:stretch/>
          </p:blipFill>
          <p:spPr>
            <a:xfrm>
              <a:off x="3747791" y="2029522"/>
              <a:ext cx="12496800" cy="5091685"/>
            </a:xfrm>
            <a:prstGeom prst="rect">
              <a:avLst/>
            </a:prstGeom>
          </p:spPr>
        </p:pic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DC8BF3B4-113F-4F58-9643-59C4C25242C5}"/>
                </a:ext>
              </a:extLst>
            </p:cNvPr>
            <p:cNvSpPr txBox="1"/>
            <p:nvPr/>
          </p:nvSpPr>
          <p:spPr>
            <a:xfrm>
              <a:off x="6239340" y="1502650"/>
              <a:ext cx="3112543" cy="307777"/>
            </a:xfrm>
            <a:prstGeom prst="rect">
              <a:avLst/>
            </a:prstGeom>
            <a:solidFill>
              <a:srgbClr val="F2F3F5"/>
            </a:solidFill>
          </p:spPr>
          <p:txBody>
            <a:bodyPr wrap="squar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Plantilla de resolución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EE54AABC-5833-4BC3-919E-0367DA6B165E}"/>
                </a:ext>
              </a:extLst>
            </p:cNvPr>
            <p:cNvGrpSpPr/>
            <p:nvPr/>
          </p:nvGrpSpPr>
          <p:grpSpPr>
            <a:xfrm>
              <a:off x="3747791" y="500806"/>
              <a:ext cx="12496800" cy="6614897"/>
              <a:chOff x="3747791" y="500806"/>
              <a:chExt cx="12496800" cy="6614897"/>
            </a:xfrm>
          </p:grpSpPr>
          <p:grpSp>
            <p:nvGrpSpPr>
              <p:cNvPr id="37" name="Grupo 36">
                <a:extLst>
                  <a:ext uri="{FF2B5EF4-FFF2-40B4-BE49-F238E27FC236}">
                    <a16:creationId xmlns:a16="http://schemas.microsoft.com/office/drawing/2014/main" id="{41F03EE9-04B2-4FDF-B60F-C2A5A0616AD6}"/>
                  </a:ext>
                </a:extLst>
              </p:cNvPr>
              <p:cNvGrpSpPr/>
              <p:nvPr/>
            </p:nvGrpSpPr>
            <p:grpSpPr>
              <a:xfrm>
                <a:off x="3747791" y="500806"/>
                <a:ext cx="12496800" cy="6614897"/>
                <a:chOff x="381000" y="4807766"/>
                <a:chExt cx="12496800" cy="6323727"/>
              </a:xfrm>
            </p:grpSpPr>
            <p:grpSp>
              <p:nvGrpSpPr>
                <p:cNvPr id="36" name="Grupo 35">
                  <a:extLst>
                    <a:ext uri="{FF2B5EF4-FFF2-40B4-BE49-F238E27FC236}">
                      <a16:creationId xmlns:a16="http://schemas.microsoft.com/office/drawing/2014/main" id="{2BA3DF2B-6BA4-4129-94C6-B08145C14F80}"/>
                    </a:ext>
                  </a:extLst>
                </p:cNvPr>
                <p:cNvGrpSpPr/>
                <p:nvPr/>
              </p:nvGrpSpPr>
              <p:grpSpPr>
                <a:xfrm>
                  <a:off x="381000" y="4807766"/>
                  <a:ext cx="12496800" cy="6323727"/>
                  <a:chOff x="381000" y="4807766"/>
                  <a:chExt cx="12496800" cy="6323727"/>
                </a:xfrm>
              </p:grpSpPr>
              <p:pic>
                <p:nvPicPr>
                  <p:cNvPr id="32" name="Imagen 31">
                    <a:extLst>
                      <a:ext uri="{FF2B5EF4-FFF2-40B4-BE49-F238E27FC236}">
                        <a16:creationId xmlns:a16="http://schemas.microsoft.com/office/drawing/2014/main" id="{A5299686-5578-492F-8496-240F7A8CCA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t="1286" b="1932"/>
                  <a:stretch/>
                </p:blipFill>
                <p:spPr>
                  <a:xfrm>
                    <a:off x="381000" y="4807766"/>
                    <a:ext cx="12496800" cy="4867563"/>
                  </a:xfrm>
                  <a:prstGeom prst="rect">
                    <a:avLst/>
                  </a:prstGeom>
                </p:spPr>
              </p:pic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78395DFE-3A28-45E9-887E-E7C5367B51EA}"/>
                      </a:ext>
                    </a:extLst>
                  </p:cNvPr>
                  <p:cNvSpPr/>
                  <p:nvPr/>
                </p:nvSpPr>
                <p:spPr>
                  <a:xfrm>
                    <a:off x="2247900" y="4807766"/>
                    <a:ext cx="381000" cy="6323727"/>
                  </a:xfrm>
                  <a:prstGeom prst="rect">
                    <a:avLst/>
                  </a:prstGeom>
                  <a:solidFill>
                    <a:srgbClr val="04579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E">
                      <a:solidFill>
                        <a:srgbClr val="002060"/>
                      </a:solidFill>
                    </a:endParaRPr>
                  </a:p>
                </p:txBody>
              </p:sp>
            </p:grpSp>
            <p:sp>
              <p:nvSpPr>
                <p:cNvPr id="33" name="Rectángulo 32">
                  <a:extLst>
                    <a:ext uri="{FF2B5EF4-FFF2-40B4-BE49-F238E27FC236}">
                      <a16:creationId xmlns:a16="http://schemas.microsoft.com/office/drawing/2014/main" id="{19CABB00-66AA-4652-A624-C465A55CE702}"/>
                    </a:ext>
                  </a:extLst>
                </p:cNvPr>
                <p:cNvSpPr/>
                <p:nvPr/>
              </p:nvSpPr>
              <p:spPr>
                <a:xfrm>
                  <a:off x="924035" y="5889569"/>
                  <a:ext cx="1714500" cy="185461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Conformación equipo Acred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Conf de Eq de Ev Internos 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Elab y Aprob Plan de Autoev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Comunic. Inicio de la Autoev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Acta de Reunión de Apertura 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Desarrollo de la Autoev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Acta de Reunión de Cierre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Informe Técnico de Autoev</a:t>
                  </a:r>
                </a:p>
              </p:txBody>
            </p:sp>
          </p:grpSp>
          <p:pic>
            <p:nvPicPr>
              <p:cNvPr id="39" name="Imagen 38">
                <a:extLst>
                  <a:ext uri="{FF2B5EF4-FFF2-40B4-BE49-F238E27FC236}">
                    <a16:creationId xmlns:a16="http://schemas.microsoft.com/office/drawing/2014/main" id="{DA0F4AA4-3D80-4673-9120-0F3428D74E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7391" y="923718"/>
                <a:ext cx="1581371" cy="285790"/>
              </a:xfrm>
              <a:prstGeom prst="rect">
                <a:avLst/>
              </a:prstGeom>
            </p:spPr>
          </p:pic>
          <p:sp>
            <p:nvSpPr>
              <p:cNvPr id="48" name="Rectángulo: esquinas redondeadas 47">
                <a:extLst>
                  <a:ext uri="{FF2B5EF4-FFF2-40B4-BE49-F238E27FC236}">
                    <a16:creationId xmlns:a16="http://schemas.microsoft.com/office/drawing/2014/main" id="{18F5AB51-604D-4F2F-8941-7EA1F38E7DA0}"/>
                  </a:ext>
                </a:extLst>
              </p:cNvPr>
              <p:cNvSpPr/>
              <p:nvPr/>
            </p:nvSpPr>
            <p:spPr>
              <a:xfrm>
                <a:off x="6239340" y="1810428"/>
                <a:ext cx="3112543" cy="1099646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>
                    <a:solidFill>
                      <a:schemeClr val="tx1"/>
                    </a:solidFill>
                  </a:rPr>
                  <a:t>Generar Documento </a:t>
                </a:r>
              </a:p>
              <a:p>
                <a:pPr algn="ctr"/>
                <a:r>
                  <a:rPr lang="es-MX">
                    <a:solidFill>
                      <a:schemeClr val="tx1"/>
                    </a:solidFill>
                  </a:rPr>
                  <a:t>(Plantilla por hito)</a:t>
                </a:r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4EBB3076-1A17-474E-8AEB-F594ABBEA125}"/>
                </a:ext>
              </a:extLst>
            </p:cNvPr>
            <p:cNvSpPr/>
            <p:nvPr/>
          </p:nvSpPr>
          <p:spPr>
            <a:xfrm>
              <a:off x="5995692" y="3046648"/>
              <a:ext cx="10248900" cy="4061859"/>
            </a:xfrm>
            <a:prstGeom prst="rect">
              <a:avLst/>
            </a:prstGeom>
            <a:solidFill>
              <a:srgbClr val="F2F3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9F6DDB50-04AA-484D-90D1-A0567366E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07981" y="4736136"/>
              <a:ext cx="10052302" cy="1750465"/>
            </a:xfrm>
            <a:prstGeom prst="rect">
              <a:avLst/>
            </a:prstGeom>
          </p:spPr>
        </p:pic>
        <p:pic>
          <p:nvPicPr>
            <p:cNvPr id="54" name="Imagen 53">
              <a:extLst>
                <a:ext uri="{FF2B5EF4-FFF2-40B4-BE49-F238E27FC236}">
                  <a16:creationId xmlns:a16="http://schemas.microsoft.com/office/drawing/2014/main" id="{FD92B10B-6D26-4DE1-992B-4730190B4F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258" t="48589" r="3491" b="30914"/>
            <a:stretch/>
          </p:blipFill>
          <p:spPr>
            <a:xfrm>
              <a:off x="6213939" y="3392869"/>
              <a:ext cx="7976376" cy="1099646"/>
            </a:xfrm>
            <a:prstGeom prst="rect">
              <a:avLst/>
            </a:prstGeom>
          </p:spPr>
        </p:pic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58A943E2-2A0A-4BAA-8A02-3EA4A3C71C41}"/>
                </a:ext>
              </a:extLst>
            </p:cNvPr>
            <p:cNvSpPr txBox="1"/>
            <p:nvPr/>
          </p:nvSpPr>
          <p:spPr>
            <a:xfrm>
              <a:off x="6213938" y="1491124"/>
              <a:ext cx="3112543" cy="307777"/>
            </a:xfrm>
            <a:prstGeom prst="rect">
              <a:avLst/>
            </a:prstGeom>
            <a:solidFill>
              <a:srgbClr val="F2F3F5"/>
            </a:solidFill>
          </p:spPr>
          <p:txBody>
            <a:bodyPr wrap="square" rtlCol="0">
              <a:spAutoFit/>
            </a:bodyPr>
            <a:lstStyle/>
            <a:p>
              <a:r>
                <a:rPr lang="es-MX" sz="1400" b="1" dirty="0">
                  <a:solidFill>
                    <a:srgbClr val="0070C0"/>
                  </a:solidFill>
                </a:rPr>
                <a:t>Formato de Resolución (opcional)</a:t>
              </a:r>
              <a:endParaRPr lang="es-PE" sz="1400" b="1" dirty="0">
                <a:solidFill>
                  <a:srgbClr val="0070C0"/>
                </a:solidFill>
              </a:endParaRPr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7EED79C6-21E4-47E2-BFBF-81D44CE9A66B}"/>
                </a:ext>
              </a:extLst>
            </p:cNvPr>
            <p:cNvSpPr txBox="1"/>
            <p:nvPr/>
          </p:nvSpPr>
          <p:spPr>
            <a:xfrm>
              <a:off x="6239339" y="3065526"/>
              <a:ext cx="3112543" cy="307777"/>
            </a:xfrm>
            <a:prstGeom prst="rect">
              <a:avLst/>
            </a:prstGeom>
            <a:solidFill>
              <a:srgbClr val="F2F3F5"/>
            </a:solidFill>
          </p:spPr>
          <p:txBody>
            <a:bodyPr wrap="squar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Carga de Resolución aprobada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  <p:sp>
          <p:nvSpPr>
            <p:cNvPr id="57" name="Rectángulo: esquinas redondeadas 56">
              <a:extLst>
                <a:ext uri="{FF2B5EF4-FFF2-40B4-BE49-F238E27FC236}">
                  <a16:creationId xmlns:a16="http://schemas.microsoft.com/office/drawing/2014/main" id="{17C8EE60-D395-4135-88A8-0E932AADFC2C}"/>
                </a:ext>
              </a:extLst>
            </p:cNvPr>
            <p:cNvSpPr/>
            <p:nvPr/>
          </p:nvSpPr>
          <p:spPr>
            <a:xfrm>
              <a:off x="14421262" y="3699099"/>
              <a:ext cx="1504910" cy="398655"/>
            </a:xfrm>
            <a:prstGeom prst="roundRect">
              <a:avLst/>
            </a:prstGeom>
            <a:solidFill>
              <a:srgbClr val="0DA4D8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Cargar</a:t>
              </a:r>
              <a:endParaRPr lang="es-PE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5EEE665C-4826-4436-88A8-CBA8FC16E1CA}"/>
                </a:ext>
              </a:extLst>
            </p:cNvPr>
            <p:cNvSpPr txBox="1"/>
            <p:nvPr/>
          </p:nvSpPr>
          <p:spPr>
            <a:xfrm>
              <a:off x="6240630" y="4641556"/>
              <a:ext cx="3112543" cy="307777"/>
            </a:xfrm>
            <a:prstGeom prst="rect">
              <a:avLst/>
            </a:prstGeom>
            <a:solidFill>
              <a:srgbClr val="F2F3F5"/>
            </a:solidFill>
          </p:spPr>
          <p:txBody>
            <a:bodyPr wrap="squar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Estatus documento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</p:grpSp>
      <p:grpSp>
        <p:nvGrpSpPr>
          <p:cNvPr id="21" name="Group 4">
            <a:extLst>
              <a:ext uri="{FF2B5EF4-FFF2-40B4-BE49-F238E27FC236}">
                <a16:creationId xmlns:a16="http://schemas.microsoft.com/office/drawing/2014/main" id="{B40786A0-E7A4-4422-9A23-EDFD34BD7ACD}"/>
              </a:ext>
            </a:extLst>
          </p:cNvPr>
          <p:cNvGrpSpPr/>
          <p:nvPr/>
        </p:nvGrpSpPr>
        <p:grpSpPr>
          <a:xfrm>
            <a:off x="381000" y="360449"/>
            <a:ext cx="7467600" cy="793813"/>
            <a:chOff x="-1" y="-19049"/>
            <a:chExt cx="7873167" cy="1058417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88F64218-5049-4B2A-957B-B3F229D6585F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9060F889-6A7B-4A6C-99CA-A32B0F498665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Generador</a:t>
              </a: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de </a:t>
              </a:r>
              <a:r>
                <a:rPr lang="en-US" sz="2799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Plantillas</a:t>
              </a:r>
              <a:endPara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4DC7AF90-302B-4BF0-8075-5284247131CD}"/>
              </a:ext>
            </a:extLst>
          </p:cNvPr>
          <p:cNvSpPr txBox="1"/>
          <p:nvPr/>
        </p:nvSpPr>
        <p:spPr>
          <a:xfrm>
            <a:off x="728318" y="1447858"/>
            <a:ext cx="15197481" cy="1168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La aplicación debe permitir la creación automática de documentos relacionados con cada hito del proyecto, generándolos a partir de la información ingresada por el usuario y utilizando plantillas predefinidas para asegurar que cada documento tenga el formato y contenido adecuado.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791B88-F847-44C0-9304-48269828D9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3297" y="2662406"/>
            <a:ext cx="5538903" cy="3633733"/>
          </a:xfrm>
          <a:prstGeom prst="rect">
            <a:avLst/>
          </a:prstGeom>
        </p:spPr>
      </p:pic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2D6EFE04-BAEC-4E70-BC4C-9F5957F5D955}"/>
              </a:ext>
            </a:extLst>
          </p:cNvPr>
          <p:cNvSpPr/>
          <p:nvPr/>
        </p:nvSpPr>
        <p:spPr>
          <a:xfrm rot="20644702">
            <a:off x="6177959" y="3775495"/>
            <a:ext cx="6608696" cy="46235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406900CD-6307-4A67-B8DB-9EB521AD82C3}"/>
              </a:ext>
            </a:extLst>
          </p:cNvPr>
          <p:cNvSpPr/>
          <p:nvPr/>
        </p:nvSpPr>
        <p:spPr>
          <a:xfrm rot="5400000">
            <a:off x="13269825" y="4804998"/>
            <a:ext cx="4101846" cy="46235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C9234D3-6CE5-4D4E-B0DD-83473CF378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09873" y="7206214"/>
            <a:ext cx="2126823" cy="243308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ECACE0B-FA8B-4659-9CDA-06C7A0C1A3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45708" y="8705575"/>
            <a:ext cx="960181" cy="91467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EBD6D04-CAD9-45D3-B643-C6D1DF2EEEE4}"/>
              </a:ext>
            </a:extLst>
          </p:cNvPr>
          <p:cNvSpPr txBox="1"/>
          <p:nvPr/>
        </p:nvSpPr>
        <p:spPr>
          <a:xfrm>
            <a:off x="16103971" y="6975381"/>
            <a:ext cx="1538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>
                <a:solidFill>
                  <a:srgbClr val="04569C"/>
                </a:solidFill>
              </a:rPr>
              <a:t>Resolución</a:t>
            </a:r>
            <a:endParaRPr lang="es-PE" sz="2400" dirty="0">
              <a:solidFill>
                <a:srgbClr val="0456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620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upo 61">
            <a:extLst>
              <a:ext uri="{FF2B5EF4-FFF2-40B4-BE49-F238E27FC236}">
                <a16:creationId xmlns:a16="http://schemas.microsoft.com/office/drawing/2014/main" id="{8FA76541-D6EC-467B-BBB8-2554C5FE5138}"/>
              </a:ext>
            </a:extLst>
          </p:cNvPr>
          <p:cNvGrpSpPr/>
          <p:nvPr/>
        </p:nvGrpSpPr>
        <p:grpSpPr>
          <a:xfrm>
            <a:off x="7475039" y="257345"/>
            <a:ext cx="10744200" cy="5691930"/>
            <a:chOff x="3747791" y="500806"/>
            <a:chExt cx="12496801" cy="6620401"/>
          </a:xfrm>
        </p:grpSpPr>
        <p:pic>
          <p:nvPicPr>
            <p:cNvPr id="61" name="Imagen 60">
              <a:extLst>
                <a:ext uri="{FF2B5EF4-FFF2-40B4-BE49-F238E27FC236}">
                  <a16:creationId xmlns:a16="http://schemas.microsoft.com/office/drawing/2014/main" id="{70DC136F-5EA0-4DE0-869E-3A07B2B792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286" b="1932"/>
            <a:stretch/>
          </p:blipFill>
          <p:spPr>
            <a:xfrm>
              <a:off x="3747791" y="2029522"/>
              <a:ext cx="12496800" cy="5091685"/>
            </a:xfrm>
            <a:prstGeom prst="rect">
              <a:avLst/>
            </a:prstGeom>
          </p:spPr>
        </p:pic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DC8BF3B4-113F-4F58-9643-59C4C25242C5}"/>
                </a:ext>
              </a:extLst>
            </p:cNvPr>
            <p:cNvSpPr txBox="1"/>
            <p:nvPr/>
          </p:nvSpPr>
          <p:spPr>
            <a:xfrm>
              <a:off x="6239340" y="1502650"/>
              <a:ext cx="3112543" cy="307777"/>
            </a:xfrm>
            <a:prstGeom prst="rect">
              <a:avLst/>
            </a:prstGeom>
            <a:solidFill>
              <a:srgbClr val="F2F3F5"/>
            </a:solidFill>
          </p:spPr>
          <p:txBody>
            <a:bodyPr wrap="squar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Plantilla de resolución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EE54AABC-5833-4BC3-919E-0367DA6B165E}"/>
                </a:ext>
              </a:extLst>
            </p:cNvPr>
            <p:cNvGrpSpPr/>
            <p:nvPr/>
          </p:nvGrpSpPr>
          <p:grpSpPr>
            <a:xfrm>
              <a:off x="3747791" y="500806"/>
              <a:ext cx="12496800" cy="6614897"/>
              <a:chOff x="3747791" y="500806"/>
              <a:chExt cx="12496800" cy="6614897"/>
            </a:xfrm>
          </p:grpSpPr>
          <p:grpSp>
            <p:nvGrpSpPr>
              <p:cNvPr id="37" name="Grupo 36">
                <a:extLst>
                  <a:ext uri="{FF2B5EF4-FFF2-40B4-BE49-F238E27FC236}">
                    <a16:creationId xmlns:a16="http://schemas.microsoft.com/office/drawing/2014/main" id="{41F03EE9-04B2-4FDF-B60F-C2A5A0616AD6}"/>
                  </a:ext>
                </a:extLst>
              </p:cNvPr>
              <p:cNvGrpSpPr/>
              <p:nvPr/>
            </p:nvGrpSpPr>
            <p:grpSpPr>
              <a:xfrm>
                <a:off x="3747791" y="500806"/>
                <a:ext cx="12496800" cy="6614897"/>
                <a:chOff x="381000" y="4807766"/>
                <a:chExt cx="12496800" cy="6323727"/>
              </a:xfrm>
            </p:grpSpPr>
            <p:grpSp>
              <p:nvGrpSpPr>
                <p:cNvPr id="36" name="Grupo 35">
                  <a:extLst>
                    <a:ext uri="{FF2B5EF4-FFF2-40B4-BE49-F238E27FC236}">
                      <a16:creationId xmlns:a16="http://schemas.microsoft.com/office/drawing/2014/main" id="{2BA3DF2B-6BA4-4129-94C6-B08145C14F80}"/>
                    </a:ext>
                  </a:extLst>
                </p:cNvPr>
                <p:cNvGrpSpPr/>
                <p:nvPr/>
              </p:nvGrpSpPr>
              <p:grpSpPr>
                <a:xfrm>
                  <a:off x="381000" y="4807766"/>
                  <a:ext cx="12496800" cy="6323727"/>
                  <a:chOff x="381000" y="4807766"/>
                  <a:chExt cx="12496800" cy="6323727"/>
                </a:xfrm>
              </p:grpSpPr>
              <p:pic>
                <p:nvPicPr>
                  <p:cNvPr id="32" name="Imagen 31">
                    <a:extLst>
                      <a:ext uri="{FF2B5EF4-FFF2-40B4-BE49-F238E27FC236}">
                        <a16:creationId xmlns:a16="http://schemas.microsoft.com/office/drawing/2014/main" id="{A5299686-5578-492F-8496-240F7A8CCA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t="1286" b="1932"/>
                  <a:stretch/>
                </p:blipFill>
                <p:spPr>
                  <a:xfrm>
                    <a:off x="381000" y="4807766"/>
                    <a:ext cx="12496800" cy="4867563"/>
                  </a:xfrm>
                  <a:prstGeom prst="rect">
                    <a:avLst/>
                  </a:prstGeom>
                </p:spPr>
              </p:pic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78395DFE-3A28-45E9-887E-E7C5367B51EA}"/>
                      </a:ext>
                    </a:extLst>
                  </p:cNvPr>
                  <p:cNvSpPr/>
                  <p:nvPr/>
                </p:nvSpPr>
                <p:spPr>
                  <a:xfrm>
                    <a:off x="2247900" y="4807766"/>
                    <a:ext cx="381000" cy="6323727"/>
                  </a:xfrm>
                  <a:prstGeom prst="rect">
                    <a:avLst/>
                  </a:prstGeom>
                  <a:solidFill>
                    <a:srgbClr val="04579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PE">
                      <a:solidFill>
                        <a:srgbClr val="002060"/>
                      </a:solidFill>
                    </a:endParaRPr>
                  </a:p>
                </p:txBody>
              </p:sp>
            </p:grpSp>
            <p:sp>
              <p:nvSpPr>
                <p:cNvPr id="33" name="Rectángulo 32">
                  <a:extLst>
                    <a:ext uri="{FF2B5EF4-FFF2-40B4-BE49-F238E27FC236}">
                      <a16:creationId xmlns:a16="http://schemas.microsoft.com/office/drawing/2014/main" id="{19CABB00-66AA-4652-A624-C465A55CE702}"/>
                    </a:ext>
                  </a:extLst>
                </p:cNvPr>
                <p:cNvSpPr/>
                <p:nvPr/>
              </p:nvSpPr>
              <p:spPr>
                <a:xfrm>
                  <a:off x="924035" y="5889569"/>
                  <a:ext cx="1714500" cy="185461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Conformación equipo Acred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Conf de Eq de Ev Internos 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Elab y Aprob Plan de Autoev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Comunic. Inicio de la Autoev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Acta de Reunión de Apertura 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Desarrollo de la Autoev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Acta de Reunión de Cierre</a:t>
                  </a:r>
                </a:p>
                <a:p>
                  <a:pPr marL="228600" indent="-228600">
                    <a:buFont typeface="Arial" panose="020B0604020202020204" pitchFamily="34" charset="0"/>
                    <a:buChar char="•"/>
                  </a:pPr>
                  <a:r>
                    <a:rPr lang="es-MX" sz="1050" b="1">
                      <a:solidFill>
                        <a:schemeClr val="bg1"/>
                      </a:solidFill>
                    </a:rPr>
                    <a:t>Informe Técnico de Autoev</a:t>
                  </a:r>
                </a:p>
              </p:txBody>
            </p:sp>
          </p:grpSp>
          <p:pic>
            <p:nvPicPr>
              <p:cNvPr id="39" name="Imagen 38">
                <a:extLst>
                  <a:ext uri="{FF2B5EF4-FFF2-40B4-BE49-F238E27FC236}">
                    <a16:creationId xmlns:a16="http://schemas.microsoft.com/office/drawing/2014/main" id="{DA0F4AA4-3D80-4673-9120-0F3428D74E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7391" y="923718"/>
                <a:ext cx="1581371" cy="285790"/>
              </a:xfrm>
              <a:prstGeom prst="rect">
                <a:avLst/>
              </a:prstGeom>
            </p:spPr>
          </p:pic>
          <p:sp>
            <p:nvSpPr>
              <p:cNvPr id="48" name="Rectángulo: esquinas redondeadas 47">
                <a:extLst>
                  <a:ext uri="{FF2B5EF4-FFF2-40B4-BE49-F238E27FC236}">
                    <a16:creationId xmlns:a16="http://schemas.microsoft.com/office/drawing/2014/main" id="{18F5AB51-604D-4F2F-8941-7EA1F38E7DA0}"/>
                  </a:ext>
                </a:extLst>
              </p:cNvPr>
              <p:cNvSpPr/>
              <p:nvPr/>
            </p:nvSpPr>
            <p:spPr>
              <a:xfrm>
                <a:off x="6239340" y="1810428"/>
                <a:ext cx="3112543" cy="1099646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>
                    <a:solidFill>
                      <a:schemeClr val="tx1"/>
                    </a:solidFill>
                  </a:rPr>
                  <a:t>Generar Documento </a:t>
                </a:r>
              </a:p>
              <a:p>
                <a:pPr algn="ctr"/>
                <a:r>
                  <a:rPr lang="es-MX">
                    <a:solidFill>
                      <a:schemeClr val="tx1"/>
                    </a:solidFill>
                  </a:rPr>
                  <a:t>(Plantilla por hito)</a:t>
                </a:r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2" name="Rectángulo 51">
              <a:extLst>
                <a:ext uri="{FF2B5EF4-FFF2-40B4-BE49-F238E27FC236}">
                  <a16:creationId xmlns:a16="http://schemas.microsoft.com/office/drawing/2014/main" id="{4EBB3076-1A17-474E-8AEB-F594ABBEA125}"/>
                </a:ext>
              </a:extLst>
            </p:cNvPr>
            <p:cNvSpPr/>
            <p:nvPr/>
          </p:nvSpPr>
          <p:spPr>
            <a:xfrm>
              <a:off x="5995692" y="3046648"/>
              <a:ext cx="10248900" cy="4061859"/>
            </a:xfrm>
            <a:prstGeom prst="rect">
              <a:avLst/>
            </a:prstGeom>
            <a:solidFill>
              <a:srgbClr val="F2F3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9F6DDB50-04AA-484D-90D1-A0567366E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07981" y="4736136"/>
              <a:ext cx="10052302" cy="1750465"/>
            </a:xfrm>
            <a:prstGeom prst="rect">
              <a:avLst/>
            </a:prstGeom>
          </p:spPr>
        </p:pic>
        <p:pic>
          <p:nvPicPr>
            <p:cNvPr id="54" name="Imagen 53">
              <a:extLst>
                <a:ext uri="{FF2B5EF4-FFF2-40B4-BE49-F238E27FC236}">
                  <a16:creationId xmlns:a16="http://schemas.microsoft.com/office/drawing/2014/main" id="{FD92B10B-6D26-4DE1-992B-4730190B4F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258" t="48589" r="3491" b="30914"/>
            <a:stretch/>
          </p:blipFill>
          <p:spPr>
            <a:xfrm>
              <a:off x="6213939" y="3392869"/>
              <a:ext cx="7976376" cy="1099646"/>
            </a:xfrm>
            <a:prstGeom prst="rect">
              <a:avLst/>
            </a:prstGeom>
          </p:spPr>
        </p:pic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58A943E2-2A0A-4BAA-8A02-3EA4A3C71C41}"/>
                </a:ext>
              </a:extLst>
            </p:cNvPr>
            <p:cNvSpPr txBox="1"/>
            <p:nvPr/>
          </p:nvSpPr>
          <p:spPr>
            <a:xfrm>
              <a:off x="6213938" y="1491124"/>
              <a:ext cx="3112543" cy="307777"/>
            </a:xfrm>
            <a:prstGeom prst="rect">
              <a:avLst/>
            </a:prstGeom>
            <a:solidFill>
              <a:srgbClr val="F2F3F5"/>
            </a:solidFill>
          </p:spPr>
          <p:txBody>
            <a:bodyPr wrap="squar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Formato de Resolución (opcional)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7EED79C6-21E4-47E2-BFBF-81D44CE9A66B}"/>
                </a:ext>
              </a:extLst>
            </p:cNvPr>
            <p:cNvSpPr txBox="1"/>
            <p:nvPr/>
          </p:nvSpPr>
          <p:spPr>
            <a:xfrm>
              <a:off x="6239339" y="3065526"/>
              <a:ext cx="3112543" cy="307777"/>
            </a:xfrm>
            <a:prstGeom prst="rect">
              <a:avLst/>
            </a:prstGeom>
            <a:solidFill>
              <a:srgbClr val="F2F3F5"/>
            </a:solidFill>
          </p:spPr>
          <p:txBody>
            <a:bodyPr wrap="squar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Carga de Resolución aprobada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  <p:sp>
          <p:nvSpPr>
            <p:cNvPr id="57" name="Rectángulo: esquinas redondeadas 56">
              <a:extLst>
                <a:ext uri="{FF2B5EF4-FFF2-40B4-BE49-F238E27FC236}">
                  <a16:creationId xmlns:a16="http://schemas.microsoft.com/office/drawing/2014/main" id="{17C8EE60-D395-4135-88A8-0E932AADFC2C}"/>
                </a:ext>
              </a:extLst>
            </p:cNvPr>
            <p:cNvSpPr/>
            <p:nvPr/>
          </p:nvSpPr>
          <p:spPr>
            <a:xfrm>
              <a:off x="14421262" y="3699099"/>
              <a:ext cx="1504910" cy="398655"/>
            </a:xfrm>
            <a:prstGeom prst="roundRect">
              <a:avLst/>
            </a:prstGeom>
            <a:solidFill>
              <a:srgbClr val="0DA4D8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/>
                <a:t>Cargar</a:t>
              </a:r>
              <a:endParaRPr lang="es-PE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5EEE665C-4826-4436-88A8-CBA8FC16E1CA}"/>
                </a:ext>
              </a:extLst>
            </p:cNvPr>
            <p:cNvSpPr txBox="1"/>
            <p:nvPr/>
          </p:nvSpPr>
          <p:spPr>
            <a:xfrm>
              <a:off x="6240630" y="4641556"/>
              <a:ext cx="3112543" cy="307777"/>
            </a:xfrm>
            <a:prstGeom prst="rect">
              <a:avLst/>
            </a:prstGeom>
            <a:solidFill>
              <a:srgbClr val="F2F3F5"/>
            </a:solidFill>
          </p:spPr>
          <p:txBody>
            <a:bodyPr wrap="squar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Estatus documento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</p:grpSp>
      <p:sp>
        <p:nvSpPr>
          <p:cNvPr id="4" name="Globo: línea 3">
            <a:extLst>
              <a:ext uri="{FF2B5EF4-FFF2-40B4-BE49-F238E27FC236}">
                <a16:creationId xmlns:a16="http://schemas.microsoft.com/office/drawing/2014/main" id="{D1A40591-8EF7-4906-B049-90C389007367}"/>
              </a:ext>
            </a:extLst>
          </p:cNvPr>
          <p:cNvSpPr/>
          <p:nvPr/>
        </p:nvSpPr>
        <p:spPr>
          <a:xfrm>
            <a:off x="359632" y="1383299"/>
            <a:ext cx="3459662" cy="4882527"/>
          </a:xfrm>
          <a:prstGeom prst="borderCallout1">
            <a:avLst>
              <a:gd name="adj1" fmla="val 42537"/>
              <a:gd name="adj2" fmla="val 99452"/>
              <a:gd name="adj3" fmla="val 5324"/>
              <a:gd name="adj4" fmla="val 223128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u="sng" dirty="0"/>
              <a:t>DESPLIEGUE EN “REVISION DOCUMENTARIA”</a:t>
            </a:r>
          </a:p>
          <a:p>
            <a:endParaRPr lang="es-MX" dirty="0"/>
          </a:p>
          <a:p>
            <a:r>
              <a:rPr lang="es-MX" dirty="0"/>
              <a:t>-Permite ingresar a cada hito para cargar su propio archivo ( resol.), así como generar sus documentos según plantilla establecida.</a:t>
            </a:r>
          </a:p>
          <a:p>
            <a:r>
              <a:rPr lang="es-MX" dirty="0"/>
              <a:t>-El hito 7 (Desarrollo de </a:t>
            </a:r>
            <a:r>
              <a:rPr lang="es-MX" dirty="0" err="1"/>
              <a:t>autoev</a:t>
            </a:r>
            <a:r>
              <a:rPr lang="es-MX" dirty="0"/>
              <a:t>.) es el único donde cambiara el ingreso de la información ***</a:t>
            </a:r>
          </a:p>
          <a:p>
            <a:r>
              <a:rPr lang="es-MX" dirty="0"/>
              <a:t> </a:t>
            </a:r>
            <a:endParaRPr lang="es-PE" b="1" u="sng" dirty="0"/>
          </a:p>
          <a:p>
            <a:r>
              <a:rPr lang="es-PE" b="1" u="sng" dirty="0"/>
              <a:t>Consideraciones:</a:t>
            </a:r>
          </a:p>
          <a:p>
            <a:r>
              <a:rPr lang="es-PE" dirty="0"/>
              <a:t>Deberá permitir realizar la carga por hito en orden consecutivo para minimizar error en ejecución de documento en fecha no consecutiva</a:t>
            </a:r>
          </a:p>
        </p:txBody>
      </p:sp>
      <p:sp>
        <p:nvSpPr>
          <p:cNvPr id="63" name="Globo: línea 62">
            <a:extLst>
              <a:ext uri="{FF2B5EF4-FFF2-40B4-BE49-F238E27FC236}">
                <a16:creationId xmlns:a16="http://schemas.microsoft.com/office/drawing/2014/main" id="{868F3316-356E-4511-94F4-DA15CF808912}"/>
              </a:ext>
            </a:extLst>
          </p:cNvPr>
          <p:cNvSpPr/>
          <p:nvPr/>
        </p:nvSpPr>
        <p:spPr>
          <a:xfrm>
            <a:off x="3958355" y="4914899"/>
            <a:ext cx="3159165" cy="3828223"/>
          </a:xfrm>
          <a:prstGeom prst="borderCallout1">
            <a:avLst>
              <a:gd name="adj1" fmla="val -1156"/>
              <a:gd name="adj2" fmla="val 49109"/>
              <a:gd name="adj3" fmla="val -32463"/>
              <a:gd name="adj4" fmla="val 168170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u="sng"/>
              <a:t>GENERACION DOCUMENTO</a:t>
            </a:r>
          </a:p>
          <a:p>
            <a:endParaRPr lang="es-MX" b="1" u="sng"/>
          </a:p>
          <a:p>
            <a:r>
              <a:rPr lang="es-MX"/>
              <a:t>Permite </a:t>
            </a:r>
            <a:r>
              <a:rPr lang="es-MX" b="1" u="sng"/>
              <a:t>registrar</a:t>
            </a:r>
            <a:r>
              <a:rPr lang="es-MX"/>
              <a:t> los campos específicos de la ipress por plantilla y </a:t>
            </a:r>
            <a:r>
              <a:rPr lang="es-MX" b="1" u="sng"/>
              <a:t>generar</a:t>
            </a:r>
            <a:r>
              <a:rPr lang="es-MX"/>
              <a:t> el modelo de resolución minimizando así el error frecuente en redacción de resolución (uso de formatos)</a:t>
            </a:r>
          </a:p>
          <a:p>
            <a:endParaRPr lang="es-PE" b="1" u="sng"/>
          </a:p>
          <a:p>
            <a:r>
              <a:rPr lang="es-PE" b="1" u="sng"/>
              <a:t>Consideraciones:</a:t>
            </a:r>
          </a:p>
          <a:p>
            <a:r>
              <a:rPr lang="es-PE"/>
              <a:t>Cada hito contiene una plantilla diferente</a:t>
            </a:r>
          </a:p>
        </p:txBody>
      </p:sp>
      <p:sp>
        <p:nvSpPr>
          <p:cNvPr id="64" name="Globo: línea 63">
            <a:extLst>
              <a:ext uri="{FF2B5EF4-FFF2-40B4-BE49-F238E27FC236}">
                <a16:creationId xmlns:a16="http://schemas.microsoft.com/office/drawing/2014/main" id="{E5B42BF1-8DEB-4151-8608-FFF6A8BA43AD}"/>
              </a:ext>
            </a:extLst>
          </p:cNvPr>
          <p:cNvSpPr/>
          <p:nvPr/>
        </p:nvSpPr>
        <p:spPr>
          <a:xfrm>
            <a:off x="7865493" y="5304274"/>
            <a:ext cx="3459662" cy="4898844"/>
          </a:xfrm>
          <a:prstGeom prst="borderCallout1">
            <a:avLst>
              <a:gd name="adj1" fmla="val -1156"/>
              <a:gd name="adj2" fmla="val 11351"/>
              <a:gd name="adj3" fmla="val -38684"/>
              <a:gd name="adj4" fmla="val 130413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u="sng" dirty="0"/>
              <a:t>CARGA DE RESOLUCIÓN APROBADA</a:t>
            </a:r>
          </a:p>
          <a:p>
            <a:endParaRPr lang="es-MX" b="1" u="sng" dirty="0"/>
          </a:p>
          <a:p>
            <a:r>
              <a:rPr lang="es-MX" dirty="0"/>
              <a:t>Permite cargar la resolución ya validada y aprobada </a:t>
            </a:r>
          </a:p>
          <a:p>
            <a:endParaRPr lang="es-PE" b="1" u="sng" dirty="0"/>
          </a:p>
          <a:p>
            <a:r>
              <a:rPr lang="es-PE" b="1" u="sng" dirty="0"/>
              <a:t>Consideraciones:</a:t>
            </a:r>
          </a:p>
          <a:p>
            <a:r>
              <a:rPr lang="es-PE" dirty="0"/>
              <a:t>Antes de finalizar la subida del archivo mostrar ventana de verificación : “ Esta seguro que la resolución ya fue aprobada y sellada </a:t>
            </a:r>
            <a:r>
              <a:rPr lang="es-PE" dirty="0" err="1"/>
              <a:t>ofcialmente</a:t>
            </a:r>
            <a:r>
              <a:rPr lang="es-PE" dirty="0"/>
              <a:t>”?</a:t>
            </a:r>
          </a:p>
          <a:p>
            <a:endParaRPr lang="es-PE" dirty="0"/>
          </a:p>
          <a:p>
            <a:r>
              <a:rPr lang="es-PE" dirty="0"/>
              <a:t>**En el futuro se esperaría poder validarla con IA</a:t>
            </a:r>
          </a:p>
        </p:txBody>
      </p:sp>
      <p:sp>
        <p:nvSpPr>
          <p:cNvPr id="65" name="Globo: línea 64">
            <a:extLst>
              <a:ext uri="{FF2B5EF4-FFF2-40B4-BE49-F238E27FC236}">
                <a16:creationId xmlns:a16="http://schemas.microsoft.com/office/drawing/2014/main" id="{86D4B538-0D6F-4C20-8CE5-962F5F634627}"/>
              </a:ext>
            </a:extLst>
          </p:cNvPr>
          <p:cNvSpPr/>
          <p:nvPr/>
        </p:nvSpPr>
        <p:spPr>
          <a:xfrm>
            <a:off x="12271352" y="6137643"/>
            <a:ext cx="4645048" cy="1125955"/>
          </a:xfrm>
          <a:prstGeom prst="borderCallout1">
            <a:avLst>
              <a:gd name="adj1" fmla="val -1156"/>
              <a:gd name="adj2" fmla="val 11351"/>
              <a:gd name="adj3" fmla="val -125967"/>
              <a:gd name="adj4" fmla="val 114114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dirty="0"/>
              <a:t>Permitirá verificar el estado del documento</a:t>
            </a:r>
          </a:p>
          <a:p>
            <a:endParaRPr lang="es-PE" sz="2400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4A141F8-B7D3-E448-9659-49A6AB6496C1}"/>
              </a:ext>
            </a:extLst>
          </p:cNvPr>
          <p:cNvGrpSpPr/>
          <p:nvPr/>
        </p:nvGrpSpPr>
        <p:grpSpPr>
          <a:xfrm>
            <a:off x="269493" y="192979"/>
            <a:ext cx="6893155" cy="793813"/>
            <a:chOff x="-1" y="-19049"/>
            <a:chExt cx="7873167" cy="1058417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B788D405-DCE0-AF77-9A2D-73AC0A56EAB3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2DFF6E83-96CF-F9BA-9142-D29631371D91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Generador</a:t>
              </a: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de </a:t>
              </a:r>
              <a:r>
                <a:rPr lang="en-US" sz="2799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Plantillas</a:t>
              </a:r>
              <a:endPara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0905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58AE407D-FEE9-0054-3E23-11A0A6334FA5}"/>
              </a:ext>
            </a:extLst>
          </p:cNvPr>
          <p:cNvGrpSpPr/>
          <p:nvPr/>
        </p:nvGrpSpPr>
        <p:grpSpPr>
          <a:xfrm>
            <a:off x="269493" y="192979"/>
            <a:ext cx="13522707" cy="793813"/>
            <a:chOff x="-1" y="-19049"/>
            <a:chExt cx="7873167" cy="1058417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05256E3-2B93-4225-A296-E7E5A58A6D52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97266199-FF13-3DE6-0CCD-D7D13E42527B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Generador</a:t>
              </a: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de Plantillas – HITO 7 -  DESARROLLO DE AUTOEVALUACION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A6B39A-C694-BCF1-7FF3-D72789650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7" y="3095625"/>
            <a:ext cx="9915525" cy="63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ECCD2CF-F6F3-ABB1-39F1-0307AB89FF67}"/>
              </a:ext>
            </a:extLst>
          </p:cNvPr>
          <p:cNvSpPr txBox="1"/>
          <p:nvPr/>
        </p:nvSpPr>
        <p:spPr>
          <a:xfrm>
            <a:off x="1003300" y="1211605"/>
            <a:ext cx="14084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rgbClr val="04569C"/>
                </a:solidFill>
              </a:rPr>
              <a:t>- Guardar versiones del registro del Anexo 2 (símil de aplicativo Acredita versión ESSALUD)</a:t>
            </a:r>
          </a:p>
          <a:p>
            <a:r>
              <a:rPr lang="es-MX" sz="2400" dirty="0">
                <a:solidFill>
                  <a:srgbClr val="04569C"/>
                </a:solidFill>
              </a:rPr>
              <a:t>- Registro de Sustento por Criterio (Fuentes Auditables de la IPRESS)</a:t>
            </a:r>
          </a:p>
          <a:p>
            <a:r>
              <a:rPr lang="es-MX" sz="2400" dirty="0">
                <a:solidFill>
                  <a:srgbClr val="04569C"/>
                </a:solidFill>
              </a:rPr>
              <a:t>- Mostrar ayuda con explicación del Criterio</a:t>
            </a:r>
          </a:p>
          <a:p>
            <a:pPr marL="342900" indent="-342900">
              <a:buFontTx/>
              <a:buChar char="-"/>
            </a:pPr>
            <a:r>
              <a:rPr lang="es-MX" sz="2400" dirty="0">
                <a:solidFill>
                  <a:srgbClr val="04569C"/>
                </a:solidFill>
              </a:rPr>
              <a:t>Mostrar ayuda con fuentes auditables</a:t>
            </a:r>
          </a:p>
          <a:p>
            <a:pPr marL="342900" indent="-342900">
              <a:buFontTx/>
              <a:buChar char="-"/>
            </a:pPr>
            <a:r>
              <a:rPr lang="es-MX" sz="2400" dirty="0">
                <a:solidFill>
                  <a:srgbClr val="04569C"/>
                </a:solidFill>
              </a:rPr>
              <a:t>Calculo del Puntaje alcanzado en la Autoevaluación</a:t>
            </a:r>
          </a:p>
          <a:p>
            <a:pPr marL="342900" indent="-342900">
              <a:buFontTx/>
              <a:buChar char="-"/>
            </a:pPr>
            <a:endParaRPr lang="es-MX" sz="2400" dirty="0">
              <a:solidFill>
                <a:srgbClr val="04569C"/>
              </a:solidFill>
            </a:endParaRPr>
          </a:p>
          <a:p>
            <a:endParaRPr lang="es-PE" sz="2400" dirty="0">
              <a:solidFill>
                <a:srgbClr val="04569C"/>
              </a:solidFill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410078E8-3A9B-427F-A421-64C39F9B1EF5}"/>
              </a:ext>
            </a:extLst>
          </p:cNvPr>
          <p:cNvGrpSpPr/>
          <p:nvPr/>
        </p:nvGrpSpPr>
        <p:grpSpPr>
          <a:xfrm>
            <a:off x="11049000" y="4212234"/>
            <a:ext cx="4213847" cy="2471083"/>
            <a:chOff x="10667999" y="3815417"/>
            <a:chExt cx="4213847" cy="2471083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41D7FB7-6A72-4CBC-B60C-B442F7F1B6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589"/>
            <a:stretch/>
          </p:blipFill>
          <p:spPr>
            <a:xfrm>
              <a:off x="10667999" y="3815417"/>
              <a:ext cx="4213847" cy="2471083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A88A4FD1-F3AB-41A3-8B45-D6984FF94ECB}"/>
                </a:ext>
              </a:extLst>
            </p:cNvPr>
            <p:cNvSpPr txBox="1"/>
            <p:nvPr/>
          </p:nvSpPr>
          <p:spPr>
            <a:xfrm>
              <a:off x="11201400" y="4034874"/>
              <a:ext cx="2871478" cy="40011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r>
                <a:rPr lang="es-MX" sz="2000" dirty="0"/>
                <a:t>Explicación de DIR 1-1 ……</a:t>
              </a:r>
              <a:endParaRPr lang="es-PE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8951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A23164DD-9938-4557-B373-CFD9919AD03F}"/>
              </a:ext>
            </a:extLst>
          </p:cNvPr>
          <p:cNvSpPr/>
          <p:nvPr/>
        </p:nvSpPr>
        <p:spPr>
          <a:xfrm flipV="1">
            <a:off x="11152460" y="4068148"/>
            <a:ext cx="39624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v</a:t>
            </a:r>
            <a:endParaRPr lang="es-PE"/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ACA7594C-BA88-4C45-9FB2-FB163D61CE95}"/>
              </a:ext>
            </a:extLst>
          </p:cNvPr>
          <p:cNvGrpSpPr/>
          <p:nvPr/>
        </p:nvGrpSpPr>
        <p:grpSpPr>
          <a:xfrm>
            <a:off x="9829800" y="2042504"/>
            <a:ext cx="7230965" cy="2967533"/>
            <a:chOff x="9906000" y="6790145"/>
            <a:chExt cx="7230965" cy="2967533"/>
          </a:xfrm>
        </p:grpSpPr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FDD7ED7B-21E0-4BED-8995-8F9ED2719A4F}"/>
                </a:ext>
              </a:extLst>
            </p:cNvPr>
            <p:cNvGrpSpPr/>
            <p:nvPr/>
          </p:nvGrpSpPr>
          <p:grpSpPr>
            <a:xfrm>
              <a:off x="9906000" y="6790145"/>
              <a:ext cx="7230965" cy="2967533"/>
              <a:chOff x="9906000" y="6790145"/>
              <a:chExt cx="7230965" cy="2967533"/>
            </a:xfrm>
          </p:grpSpPr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CE34DF6B-EC42-4DA3-A6CF-60B588A212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2210" t="2833" r="1125" b="50378"/>
              <a:stretch/>
            </p:blipFill>
            <p:spPr>
              <a:xfrm>
                <a:off x="9906000" y="6790145"/>
                <a:ext cx="7230965" cy="2171687"/>
              </a:xfrm>
              <a:prstGeom prst="rect">
                <a:avLst/>
              </a:prstGeom>
            </p:spPr>
          </p:pic>
          <p:grpSp>
            <p:nvGrpSpPr>
              <p:cNvPr id="36" name="Grupo 35">
                <a:extLst>
                  <a:ext uri="{FF2B5EF4-FFF2-40B4-BE49-F238E27FC236}">
                    <a16:creationId xmlns:a16="http://schemas.microsoft.com/office/drawing/2014/main" id="{56B2B2BF-10E7-47C0-86A7-76190E823C01}"/>
                  </a:ext>
                </a:extLst>
              </p:cNvPr>
              <p:cNvGrpSpPr/>
              <p:nvPr/>
            </p:nvGrpSpPr>
            <p:grpSpPr>
              <a:xfrm>
                <a:off x="10026341" y="9014034"/>
                <a:ext cx="5268640" cy="743644"/>
                <a:chOff x="10123760" y="8992924"/>
                <a:chExt cx="5268640" cy="743644"/>
              </a:xfrm>
            </p:grpSpPr>
            <p:sp>
              <p:nvSpPr>
                <p:cNvPr id="32" name="Rectángulo: esquinas redondeadas 31">
                  <a:extLst>
                    <a:ext uri="{FF2B5EF4-FFF2-40B4-BE49-F238E27FC236}">
                      <a16:creationId xmlns:a16="http://schemas.microsoft.com/office/drawing/2014/main" id="{C906282B-4F54-410C-A3D6-903B564427CE}"/>
                    </a:ext>
                  </a:extLst>
                </p:cNvPr>
                <p:cNvSpPr/>
                <p:nvPr/>
              </p:nvSpPr>
              <p:spPr>
                <a:xfrm>
                  <a:off x="10123760" y="9331793"/>
                  <a:ext cx="2514600" cy="398655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MX" sz="1400">
                      <a:solidFill>
                        <a:schemeClr val="tx1"/>
                      </a:solidFill>
                    </a:rPr>
                    <a:t>Asistencia tecnica</a:t>
                  </a:r>
                  <a:endParaRPr lang="es-PE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FC124690-258E-46E1-B327-19A7530A20FC}"/>
                    </a:ext>
                  </a:extLst>
                </p:cNvPr>
                <p:cNvSpPr txBox="1"/>
                <p:nvPr/>
              </p:nvSpPr>
              <p:spPr>
                <a:xfrm>
                  <a:off x="10153554" y="8992924"/>
                  <a:ext cx="142218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MX" sz="1400" b="1">
                      <a:solidFill>
                        <a:srgbClr val="0070C0"/>
                      </a:solidFill>
                    </a:rPr>
                    <a:t>Tipo de Solicitud</a:t>
                  </a:r>
                  <a:endParaRPr lang="es-PE" sz="1400" b="1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34" name="Rectángulo: esquinas redondeadas 33">
                  <a:extLst>
                    <a:ext uri="{FF2B5EF4-FFF2-40B4-BE49-F238E27FC236}">
                      <a16:creationId xmlns:a16="http://schemas.microsoft.com/office/drawing/2014/main" id="{9808855D-D457-4367-8C25-F3050A5BA354}"/>
                    </a:ext>
                  </a:extLst>
                </p:cNvPr>
                <p:cNvSpPr/>
                <p:nvPr/>
              </p:nvSpPr>
              <p:spPr>
                <a:xfrm>
                  <a:off x="12877800" y="9337913"/>
                  <a:ext cx="2514600" cy="398655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MX" sz="1400">
                      <a:solidFill>
                        <a:schemeClr val="tx1"/>
                      </a:solidFill>
                    </a:rPr>
                    <a:t>xxxxxx</a:t>
                  </a:r>
                  <a:endParaRPr lang="es-PE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08C25FE1-D1D3-4C3C-B617-2A1906C78EE4}"/>
                    </a:ext>
                  </a:extLst>
                </p:cNvPr>
                <p:cNvSpPr txBox="1"/>
                <p:nvPr/>
              </p:nvSpPr>
              <p:spPr>
                <a:xfrm>
                  <a:off x="12907594" y="8999044"/>
                  <a:ext cx="158825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MX" sz="1400" b="1">
                      <a:solidFill>
                        <a:srgbClr val="0070C0"/>
                      </a:solidFill>
                    </a:rPr>
                    <a:t>N° Expediente SGD</a:t>
                  </a:r>
                  <a:endParaRPr lang="es-PE" sz="1400" b="1">
                    <a:solidFill>
                      <a:srgbClr val="0070C0"/>
                    </a:solidFill>
                  </a:endParaRPr>
                </a:p>
              </p:txBody>
            </p:sp>
          </p:grp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248068D3-A969-4887-AA73-3FEE5DAA41C6}"/>
                  </a:ext>
                </a:extLst>
              </p:cNvPr>
              <p:cNvGrpSpPr/>
              <p:nvPr/>
            </p:nvGrpSpPr>
            <p:grpSpPr>
              <a:xfrm>
                <a:off x="10097052" y="8218160"/>
                <a:ext cx="2247348" cy="659140"/>
                <a:chOff x="10026341" y="8141960"/>
                <a:chExt cx="2514600" cy="737524"/>
              </a:xfrm>
            </p:grpSpPr>
            <p:sp>
              <p:nvSpPr>
                <p:cNvPr id="37" name="Rectángulo: esquinas redondeadas 36">
                  <a:extLst>
                    <a:ext uri="{FF2B5EF4-FFF2-40B4-BE49-F238E27FC236}">
                      <a16:creationId xmlns:a16="http://schemas.microsoft.com/office/drawing/2014/main" id="{A208E884-DA51-4BA2-AB73-A629E7BA227D}"/>
                    </a:ext>
                  </a:extLst>
                </p:cNvPr>
                <p:cNvSpPr/>
                <p:nvPr/>
              </p:nvSpPr>
              <p:spPr>
                <a:xfrm>
                  <a:off x="10026341" y="8480829"/>
                  <a:ext cx="2514600" cy="398655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s-MX" sz="1400">
                      <a:solidFill>
                        <a:schemeClr val="tx1"/>
                      </a:solidFill>
                    </a:rPr>
                    <a:t>Kelly Zamora</a:t>
                  </a:r>
                  <a:endParaRPr lang="es-PE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F4B5E796-295D-4C16-9686-D1F1688EE9B0}"/>
                    </a:ext>
                  </a:extLst>
                </p:cNvPr>
                <p:cNvSpPr txBox="1"/>
                <p:nvPr/>
              </p:nvSpPr>
              <p:spPr>
                <a:xfrm>
                  <a:off x="10056133" y="8141960"/>
                  <a:ext cx="1594852" cy="3443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1400" b="1">
                      <a:solidFill>
                        <a:srgbClr val="0070C0"/>
                      </a:solidFill>
                    </a:rPr>
                    <a:t>Sectorista</a:t>
                  </a:r>
                  <a:endParaRPr lang="es-PE" sz="1400" b="1">
                    <a:solidFill>
                      <a:srgbClr val="0070C0"/>
                    </a:solidFill>
                  </a:endParaRPr>
                </a:p>
              </p:txBody>
            </p:sp>
          </p:grpSp>
          <p:sp>
            <p:nvSpPr>
              <p:cNvPr id="41" name="Rectángulo: esquinas redondeadas 40">
                <a:extLst>
                  <a:ext uri="{FF2B5EF4-FFF2-40B4-BE49-F238E27FC236}">
                    <a16:creationId xmlns:a16="http://schemas.microsoft.com/office/drawing/2014/main" id="{14FD5169-BE9B-40DB-BD6E-6607320D960C}"/>
                  </a:ext>
                </a:extLst>
              </p:cNvPr>
              <p:cNvSpPr/>
              <p:nvPr/>
            </p:nvSpPr>
            <p:spPr>
              <a:xfrm>
                <a:off x="15534421" y="9352903"/>
                <a:ext cx="1126579" cy="398655"/>
              </a:xfrm>
              <a:prstGeom prst="roundRect">
                <a:avLst/>
              </a:prstGeom>
              <a:solidFill>
                <a:srgbClr val="0DA4D8"/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/>
                  <a:t>Registrar</a:t>
                </a:r>
                <a:endParaRPr lang="es-PE"/>
              </a:p>
            </p:txBody>
          </p:sp>
          <p:sp>
            <p:nvSpPr>
              <p:cNvPr id="44" name="Rectángulo: esquinas redondeadas 43">
                <a:extLst>
                  <a:ext uri="{FF2B5EF4-FFF2-40B4-BE49-F238E27FC236}">
                    <a16:creationId xmlns:a16="http://schemas.microsoft.com/office/drawing/2014/main" id="{52E741F6-C547-43EB-BF78-7CCDCE9C1CA7}"/>
                  </a:ext>
                </a:extLst>
              </p:cNvPr>
              <p:cNvSpPr/>
              <p:nvPr/>
            </p:nvSpPr>
            <p:spPr>
              <a:xfrm>
                <a:off x="10216981" y="7503790"/>
                <a:ext cx="1332048" cy="39865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s-MX" sz="1400">
                    <a:solidFill>
                      <a:srgbClr val="00B0F0"/>
                    </a:solidFill>
                  </a:rPr>
                  <a:t>Registrar</a:t>
                </a:r>
                <a:endParaRPr lang="es-PE" sz="1400">
                  <a:solidFill>
                    <a:srgbClr val="00B0F0"/>
                  </a:solidFill>
                </a:endParaRPr>
              </a:p>
            </p:txBody>
          </p:sp>
          <p:sp>
            <p:nvSpPr>
              <p:cNvPr id="45" name="Rectángulo: esquinas redondeadas 44">
                <a:extLst>
                  <a:ext uri="{FF2B5EF4-FFF2-40B4-BE49-F238E27FC236}">
                    <a16:creationId xmlns:a16="http://schemas.microsoft.com/office/drawing/2014/main" id="{E3A28CB3-ACF7-4D79-A5F9-DF7191F3AF8E}"/>
                  </a:ext>
                </a:extLst>
              </p:cNvPr>
              <p:cNvSpPr/>
              <p:nvPr/>
            </p:nvSpPr>
            <p:spPr>
              <a:xfrm>
                <a:off x="11597173" y="7505700"/>
                <a:ext cx="1183208" cy="39865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s-MX" sz="1400">
                    <a:solidFill>
                      <a:srgbClr val="00B0F0"/>
                    </a:solidFill>
                  </a:rPr>
                  <a:t>Programar</a:t>
                </a:r>
                <a:endParaRPr lang="es-PE" sz="1400">
                  <a:solidFill>
                    <a:srgbClr val="00B0F0"/>
                  </a:solidFill>
                </a:endParaRPr>
              </a:p>
            </p:txBody>
          </p:sp>
          <p:sp>
            <p:nvSpPr>
              <p:cNvPr id="46" name="Rectángulo: esquinas redondeadas 45">
                <a:extLst>
                  <a:ext uri="{FF2B5EF4-FFF2-40B4-BE49-F238E27FC236}">
                    <a16:creationId xmlns:a16="http://schemas.microsoft.com/office/drawing/2014/main" id="{75E36A61-A6E2-4E5D-9602-62283E192AA4}"/>
                  </a:ext>
                </a:extLst>
              </p:cNvPr>
              <p:cNvSpPr/>
              <p:nvPr/>
            </p:nvSpPr>
            <p:spPr>
              <a:xfrm>
                <a:off x="12828525" y="7521891"/>
                <a:ext cx="1183208" cy="39865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s-MX" sz="1400">
                    <a:solidFill>
                      <a:srgbClr val="FF0000"/>
                    </a:solidFill>
                  </a:rPr>
                  <a:t>Otro??</a:t>
                </a:r>
                <a:endParaRPr lang="es-PE" sz="140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6CD369CE-F484-4D4B-B047-2DAD4CC66C32}"/>
                </a:ext>
              </a:extLst>
            </p:cNvPr>
            <p:cNvSpPr txBox="1"/>
            <p:nvPr/>
          </p:nvSpPr>
          <p:spPr>
            <a:xfrm>
              <a:off x="10402733" y="7939478"/>
              <a:ext cx="237764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Registrar datos de solicitud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</p:grpSp>
      <p:sp>
        <p:nvSpPr>
          <p:cNvPr id="23" name="Globo: línea 22">
            <a:extLst>
              <a:ext uri="{FF2B5EF4-FFF2-40B4-BE49-F238E27FC236}">
                <a16:creationId xmlns:a16="http://schemas.microsoft.com/office/drawing/2014/main" id="{A0FD5FCD-14BF-45E9-AD00-D654400C1985}"/>
              </a:ext>
            </a:extLst>
          </p:cNvPr>
          <p:cNvSpPr/>
          <p:nvPr/>
        </p:nvSpPr>
        <p:spPr>
          <a:xfrm>
            <a:off x="577948" y="1498399"/>
            <a:ext cx="7467600" cy="3637481"/>
          </a:xfrm>
          <a:prstGeom prst="borderCallout1">
            <a:avLst>
              <a:gd name="adj1" fmla="val 20541"/>
              <a:gd name="adj2" fmla="val 99707"/>
              <a:gd name="adj3" fmla="val 72777"/>
              <a:gd name="adj4" fmla="val 123636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/>
          </a:p>
          <a:p>
            <a:r>
              <a:rPr lang="es-MX" b="1" u="sng"/>
              <a:t>1.Datos a ingresar a Pestaña registro:</a:t>
            </a:r>
          </a:p>
          <a:p>
            <a:r>
              <a:rPr lang="es-MX"/>
              <a:t>-Sectorista (el que atenderá la solicitud)</a:t>
            </a:r>
          </a:p>
          <a:p>
            <a:r>
              <a:rPr lang="es-MX"/>
              <a:t>-Red Asistencial</a:t>
            </a:r>
          </a:p>
          <a:p>
            <a:r>
              <a:rPr lang="es-MX"/>
              <a:t>-Centro Asistencial (ipress)</a:t>
            </a:r>
          </a:p>
          <a:p>
            <a:r>
              <a:rPr lang="es-MX"/>
              <a:t>-Tipo de solicitud (Asistencia técnica / Capacitacion)</a:t>
            </a:r>
          </a:p>
          <a:p>
            <a:r>
              <a:rPr lang="es-MX"/>
              <a:t>-N°requerimiento</a:t>
            </a:r>
          </a:p>
          <a:p>
            <a:endParaRPr lang="es-MX"/>
          </a:p>
          <a:p>
            <a:r>
              <a:rPr lang="es-PE" b="1" u="sng"/>
              <a:t>Consideraciones:</a:t>
            </a:r>
          </a:p>
          <a:p>
            <a:r>
              <a:rPr lang="es-PE"/>
              <a:t>-Registrar las solicitudes que ingresan desde SGD con el n°Expediente independientemente que el sectorista no tenga asignado la macroregion o red asistencial, esto para cubrir necesidad del proceso de reasignar alguna atención (por prioridades, rotación personal, vacaciones u otros)</a:t>
            </a:r>
            <a:endParaRPr lang="es-MX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4F5FF848-32A7-4F49-9929-D5379AC7BB06}"/>
              </a:ext>
            </a:extLst>
          </p:cNvPr>
          <p:cNvSpPr/>
          <p:nvPr/>
        </p:nvSpPr>
        <p:spPr>
          <a:xfrm>
            <a:off x="9829800" y="3499614"/>
            <a:ext cx="7230965" cy="163626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9AC3126B-8882-4526-8E83-DF27B076E5FE}"/>
              </a:ext>
            </a:extLst>
          </p:cNvPr>
          <p:cNvSpPr/>
          <p:nvPr/>
        </p:nvSpPr>
        <p:spPr>
          <a:xfrm>
            <a:off x="9829800" y="2635027"/>
            <a:ext cx="7230965" cy="59082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CED2B43-8183-5F0E-87B3-FAF22E6D330E}"/>
              </a:ext>
            </a:extLst>
          </p:cNvPr>
          <p:cNvGrpSpPr/>
          <p:nvPr/>
        </p:nvGrpSpPr>
        <p:grpSpPr>
          <a:xfrm>
            <a:off x="381000" y="360449"/>
            <a:ext cx="10771460" cy="793813"/>
            <a:chOff x="-1" y="-19049"/>
            <a:chExt cx="7873167" cy="1058417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B83E39E3-2645-D3A2-65D3-4E4403DEBE18}"/>
                </a:ext>
              </a:extLst>
            </p:cNvPr>
            <p:cNvSpPr/>
            <p:nvPr/>
          </p:nvSpPr>
          <p:spPr>
            <a:xfrm>
              <a:off x="-1" y="0"/>
              <a:ext cx="7873167" cy="1039368"/>
            </a:xfrm>
            <a:custGeom>
              <a:avLst/>
              <a:gdLst/>
              <a:ahLst/>
              <a:cxnLst/>
              <a:rect l="l" t="t" r="r" b="b"/>
              <a:pathLst>
                <a:path w="5857240" h="1039368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5684012" y="0"/>
                  </a:lnTo>
                  <a:cubicBezTo>
                    <a:pt x="5779643" y="0"/>
                    <a:pt x="5857240" y="77597"/>
                    <a:pt x="5857240" y="173228"/>
                  </a:cubicBezTo>
                  <a:lnTo>
                    <a:pt x="5857240" y="866140"/>
                  </a:lnTo>
                  <a:cubicBezTo>
                    <a:pt x="5857240" y="961771"/>
                    <a:pt x="5779643" y="1039368"/>
                    <a:pt x="5684012" y="1039368"/>
                  </a:cubicBezTo>
                  <a:lnTo>
                    <a:pt x="173228" y="1039368"/>
                  </a:lnTo>
                  <a:cubicBezTo>
                    <a:pt x="77597" y="1039368"/>
                    <a:pt x="0" y="961771"/>
                    <a:pt x="0" y="86614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18F29772-3A75-D52D-0E98-3E0BE6478EE3}"/>
                </a:ext>
              </a:extLst>
            </p:cNvPr>
            <p:cNvSpPr txBox="1"/>
            <p:nvPr/>
          </p:nvSpPr>
          <p:spPr>
            <a:xfrm>
              <a:off x="-1" y="-19049"/>
              <a:ext cx="7873167" cy="1058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REGISTRO DE CAPACITACION/ASISTENCIA TECNICA</a:t>
              </a:r>
            </a:p>
          </p:txBody>
        </p:sp>
      </p:grpSp>
      <p:pic>
        <p:nvPicPr>
          <p:cNvPr id="55" name="Imagen 54">
            <a:extLst>
              <a:ext uri="{FF2B5EF4-FFF2-40B4-BE49-F238E27FC236}">
                <a16:creationId xmlns:a16="http://schemas.microsoft.com/office/drawing/2014/main" id="{2BD92583-77A0-4FA6-9D42-5210DBCC45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0" t="2833" r="1125" b="66058"/>
          <a:stretch/>
        </p:blipFill>
        <p:spPr>
          <a:xfrm>
            <a:off x="8892111" y="5549811"/>
            <a:ext cx="8328965" cy="1443935"/>
          </a:xfrm>
          <a:prstGeom prst="rect">
            <a:avLst/>
          </a:prstGeom>
        </p:spPr>
      </p:pic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74530577-9884-4152-9243-A305FAE1879D}"/>
              </a:ext>
            </a:extLst>
          </p:cNvPr>
          <p:cNvSpPr/>
          <p:nvPr/>
        </p:nvSpPr>
        <p:spPr>
          <a:xfrm>
            <a:off x="9250314" y="6263456"/>
            <a:ext cx="1534315" cy="398655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rgbClr val="00B0F0"/>
                </a:solidFill>
              </a:rPr>
              <a:t>Registrar</a:t>
            </a:r>
            <a:endParaRPr lang="es-PE" sz="1400">
              <a:solidFill>
                <a:srgbClr val="00B0F0"/>
              </a:solidFill>
            </a:endParaRP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9AA45816-76BD-407F-81EF-8CDAA86B0126}"/>
              </a:ext>
            </a:extLst>
          </p:cNvPr>
          <p:cNvSpPr/>
          <p:nvPr/>
        </p:nvSpPr>
        <p:spPr>
          <a:xfrm>
            <a:off x="10840083" y="6265366"/>
            <a:ext cx="1362875" cy="398655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rgbClr val="00B0F0"/>
                </a:solidFill>
              </a:rPr>
              <a:t>Programar</a:t>
            </a:r>
            <a:endParaRPr lang="es-PE" sz="1400">
              <a:solidFill>
                <a:srgbClr val="00B0F0"/>
              </a:solidFill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33DD2B7C-1B39-4182-9ECA-87B88E88B784}"/>
              </a:ext>
            </a:extLst>
          </p:cNvPr>
          <p:cNvSpPr/>
          <p:nvPr/>
        </p:nvSpPr>
        <p:spPr>
          <a:xfrm>
            <a:off x="12258413" y="6281557"/>
            <a:ext cx="1362875" cy="398655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rgbClr val="FF0000"/>
                </a:solidFill>
              </a:rPr>
              <a:t>Otro??</a:t>
            </a:r>
            <a:endParaRPr lang="es-PE" sz="1400">
              <a:solidFill>
                <a:srgbClr val="FF0000"/>
              </a:solidFill>
            </a:endParaRP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F785B315-E9BC-4805-973C-F49583BD3FB1}"/>
              </a:ext>
            </a:extLst>
          </p:cNvPr>
          <p:cNvSpPr txBox="1"/>
          <p:nvPr/>
        </p:nvSpPr>
        <p:spPr>
          <a:xfrm>
            <a:off x="9443132" y="6685969"/>
            <a:ext cx="237764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400" b="1">
                <a:solidFill>
                  <a:srgbClr val="0070C0"/>
                </a:solidFill>
              </a:rPr>
              <a:t>Registro de programacion</a:t>
            </a:r>
            <a:endParaRPr lang="es-PE" sz="1400" b="1">
              <a:solidFill>
                <a:srgbClr val="0070C0"/>
              </a:solidFill>
            </a:endParaRPr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30FE2CE7-43BB-4258-A4A1-0830B568BC43}"/>
              </a:ext>
            </a:extLst>
          </p:cNvPr>
          <p:cNvSpPr/>
          <p:nvPr/>
        </p:nvSpPr>
        <p:spPr>
          <a:xfrm>
            <a:off x="8892235" y="6962361"/>
            <a:ext cx="8328965" cy="4683136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91" name="Grupo 90">
            <a:extLst>
              <a:ext uri="{FF2B5EF4-FFF2-40B4-BE49-F238E27FC236}">
                <a16:creationId xmlns:a16="http://schemas.microsoft.com/office/drawing/2014/main" id="{8D03151D-CA52-463F-B45E-526195CB9A95}"/>
              </a:ext>
            </a:extLst>
          </p:cNvPr>
          <p:cNvGrpSpPr/>
          <p:nvPr/>
        </p:nvGrpSpPr>
        <p:grpSpPr>
          <a:xfrm>
            <a:off x="9168624" y="7700752"/>
            <a:ext cx="6068667" cy="743644"/>
            <a:chOff x="10123760" y="8992924"/>
            <a:chExt cx="5268640" cy="743644"/>
          </a:xfrm>
        </p:grpSpPr>
        <p:sp>
          <p:nvSpPr>
            <p:cNvPr id="92" name="Rectángulo: esquinas redondeadas 91">
              <a:extLst>
                <a:ext uri="{FF2B5EF4-FFF2-40B4-BE49-F238E27FC236}">
                  <a16:creationId xmlns:a16="http://schemas.microsoft.com/office/drawing/2014/main" id="{8F1FE88F-2EC7-4E71-BD0E-4FF1FF951884}"/>
                </a:ext>
              </a:extLst>
            </p:cNvPr>
            <p:cNvSpPr/>
            <p:nvPr/>
          </p:nvSpPr>
          <p:spPr>
            <a:xfrm>
              <a:off x="10123760" y="9331793"/>
              <a:ext cx="2514600" cy="398655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sz="1400">
                  <a:solidFill>
                    <a:schemeClr val="tx1"/>
                  </a:solidFill>
                </a:rPr>
                <a:t>xxxxx</a:t>
              </a:r>
              <a:endParaRPr lang="es-PE" sz="1400">
                <a:solidFill>
                  <a:schemeClr val="tx1"/>
                </a:solidFill>
              </a:endParaRP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88B8791B-B9AB-4C6C-96D7-3DA5694F950F}"/>
                </a:ext>
              </a:extLst>
            </p:cNvPr>
            <p:cNvSpPr txBox="1"/>
            <p:nvPr/>
          </p:nvSpPr>
          <p:spPr>
            <a:xfrm>
              <a:off x="10153554" y="8992924"/>
              <a:ext cx="11127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Fecha de inicio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822070D2-3878-4337-B15E-2F866C78C38F}"/>
                </a:ext>
              </a:extLst>
            </p:cNvPr>
            <p:cNvSpPr/>
            <p:nvPr/>
          </p:nvSpPr>
          <p:spPr>
            <a:xfrm>
              <a:off x="12877800" y="9337913"/>
              <a:ext cx="2514600" cy="398655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sz="1400">
                  <a:solidFill>
                    <a:schemeClr val="tx1"/>
                  </a:solidFill>
                </a:rPr>
                <a:t>xxxxxx</a:t>
              </a:r>
              <a:endParaRPr lang="es-PE" sz="1400">
                <a:solidFill>
                  <a:schemeClr val="tx1"/>
                </a:solidFill>
              </a:endParaRPr>
            </a:p>
          </p:txBody>
        </p: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8A51E274-A35B-4DB7-A7C5-315BF03D64E1}"/>
                </a:ext>
              </a:extLst>
            </p:cNvPr>
            <p:cNvSpPr txBox="1"/>
            <p:nvPr/>
          </p:nvSpPr>
          <p:spPr>
            <a:xfrm>
              <a:off x="12907594" y="8999044"/>
              <a:ext cx="9345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b="1">
                  <a:solidFill>
                    <a:srgbClr val="0070C0"/>
                  </a:solidFill>
                </a:rPr>
                <a:t>Fecha de fin</a:t>
              </a:r>
              <a:endParaRPr lang="es-PE" sz="1400" b="1">
                <a:solidFill>
                  <a:srgbClr val="0070C0"/>
                </a:solidFill>
              </a:endParaRPr>
            </a:p>
          </p:txBody>
        </p:sp>
      </p:grpSp>
      <p:sp>
        <p:nvSpPr>
          <p:cNvPr id="99" name="Rectángulo: esquinas redondeadas 98">
            <a:extLst>
              <a:ext uri="{FF2B5EF4-FFF2-40B4-BE49-F238E27FC236}">
                <a16:creationId xmlns:a16="http://schemas.microsoft.com/office/drawing/2014/main" id="{70BEC382-16E3-4B8D-BAF8-2FC96D9424E8}"/>
              </a:ext>
            </a:extLst>
          </p:cNvPr>
          <p:cNvSpPr/>
          <p:nvPr/>
        </p:nvSpPr>
        <p:spPr>
          <a:xfrm>
            <a:off x="15491246" y="7165247"/>
            <a:ext cx="1486666" cy="398655"/>
          </a:xfrm>
          <a:prstGeom prst="roundRect">
            <a:avLst/>
          </a:prstGeom>
          <a:solidFill>
            <a:srgbClr val="0DA4D8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Programar</a:t>
            </a:r>
            <a:endParaRPr lang="es-PE"/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70758514-51C0-4067-B42D-615C3A42609D}"/>
              </a:ext>
            </a:extLst>
          </p:cNvPr>
          <p:cNvSpPr txBox="1"/>
          <p:nvPr/>
        </p:nvSpPr>
        <p:spPr>
          <a:xfrm>
            <a:off x="9172136" y="8969377"/>
            <a:ext cx="3112543" cy="307777"/>
          </a:xfrm>
          <a:prstGeom prst="rect">
            <a:avLst/>
          </a:prstGeom>
          <a:solidFill>
            <a:srgbClr val="F2F3F5"/>
          </a:solidFill>
        </p:spPr>
        <p:txBody>
          <a:bodyPr wrap="square" rtlCol="0">
            <a:spAutoFit/>
          </a:bodyPr>
          <a:lstStyle/>
          <a:p>
            <a:r>
              <a:rPr lang="es-MX" sz="1400" b="1">
                <a:solidFill>
                  <a:srgbClr val="0070C0"/>
                </a:solidFill>
              </a:rPr>
              <a:t>Solicitudes o Expedientes registrados</a:t>
            </a:r>
            <a:endParaRPr lang="es-PE" sz="1400" b="1">
              <a:solidFill>
                <a:srgbClr val="0070C0"/>
              </a:solidFill>
            </a:endParaRPr>
          </a:p>
        </p:txBody>
      </p:sp>
      <p:graphicFrame>
        <p:nvGraphicFramePr>
          <p:cNvPr id="101" name="Tabla 6">
            <a:extLst>
              <a:ext uri="{FF2B5EF4-FFF2-40B4-BE49-F238E27FC236}">
                <a16:creationId xmlns:a16="http://schemas.microsoft.com/office/drawing/2014/main" id="{458273C0-838C-4C87-88BA-4C1D6555B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243196"/>
              </p:ext>
            </p:extLst>
          </p:nvPr>
        </p:nvGraphicFramePr>
        <p:xfrm>
          <a:off x="9143224" y="9277167"/>
          <a:ext cx="7745890" cy="1916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178">
                  <a:extLst>
                    <a:ext uri="{9D8B030D-6E8A-4147-A177-3AD203B41FA5}">
                      <a16:colId xmlns:a16="http://schemas.microsoft.com/office/drawing/2014/main" val="843576984"/>
                    </a:ext>
                  </a:extLst>
                </a:gridCol>
                <a:gridCol w="1549178">
                  <a:extLst>
                    <a:ext uri="{9D8B030D-6E8A-4147-A177-3AD203B41FA5}">
                      <a16:colId xmlns:a16="http://schemas.microsoft.com/office/drawing/2014/main" val="3286871456"/>
                    </a:ext>
                  </a:extLst>
                </a:gridCol>
                <a:gridCol w="1549178">
                  <a:extLst>
                    <a:ext uri="{9D8B030D-6E8A-4147-A177-3AD203B41FA5}">
                      <a16:colId xmlns:a16="http://schemas.microsoft.com/office/drawing/2014/main" val="464782293"/>
                    </a:ext>
                  </a:extLst>
                </a:gridCol>
                <a:gridCol w="1549178">
                  <a:extLst>
                    <a:ext uri="{9D8B030D-6E8A-4147-A177-3AD203B41FA5}">
                      <a16:colId xmlns:a16="http://schemas.microsoft.com/office/drawing/2014/main" val="1884219041"/>
                    </a:ext>
                  </a:extLst>
                </a:gridCol>
                <a:gridCol w="1549178">
                  <a:extLst>
                    <a:ext uri="{9D8B030D-6E8A-4147-A177-3AD203B41FA5}">
                      <a16:colId xmlns:a16="http://schemas.microsoft.com/office/drawing/2014/main" val="2769141994"/>
                    </a:ext>
                  </a:extLst>
                </a:gridCol>
              </a:tblGrid>
              <a:tr h="479017">
                <a:tc>
                  <a:txBody>
                    <a:bodyPr/>
                    <a:lstStyle/>
                    <a:p>
                      <a:r>
                        <a:rPr lang="es-MX"/>
                        <a:t># expediente</a:t>
                      </a:r>
                      <a:endParaRPr lang="es-PE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Tipo solictud</a:t>
                      </a:r>
                      <a:endParaRPr lang="es-PE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Ipress</a:t>
                      </a:r>
                      <a:endParaRPr lang="es-PE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Estado</a:t>
                      </a:r>
                      <a:endParaRPr lang="es-PE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Programar</a:t>
                      </a:r>
                      <a:endParaRPr lang="es-PE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65119"/>
                  </a:ext>
                </a:extLst>
              </a:tr>
              <a:tr h="479017">
                <a:tc>
                  <a:txBody>
                    <a:bodyPr/>
                    <a:lstStyle/>
                    <a:p>
                      <a:r>
                        <a:rPr lang="es-MX"/>
                        <a:t>1234568</a:t>
                      </a:r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Asistencia</a:t>
                      </a:r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Macacona</a:t>
                      </a:r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481504"/>
                  </a:ext>
                </a:extLst>
              </a:tr>
              <a:tr h="479017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Asistencia</a:t>
                      </a:r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Pend. Prog</a:t>
                      </a:r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812046"/>
                  </a:ext>
                </a:extLst>
              </a:tr>
              <a:tr h="479017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Capacitacion</a:t>
                      </a:r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058253"/>
                  </a:ext>
                </a:extLst>
              </a:tr>
            </a:tbl>
          </a:graphicData>
        </a:graphic>
      </p:graphicFrame>
      <p:pic>
        <p:nvPicPr>
          <p:cNvPr id="102" name="Imagen 101">
            <a:extLst>
              <a:ext uri="{FF2B5EF4-FFF2-40B4-BE49-F238E27FC236}">
                <a16:creationId xmlns:a16="http://schemas.microsoft.com/office/drawing/2014/main" id="{9A742019-0BE1-4B39-82CD-BC671C98A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9400" y="9812781"/>
            <a:ext cx="661129" cy="382758"/>
          </a:xfrm>
          <a:prstGeom prst="rect">
            <a:avLst/>
          </a:prstGeom>
        </p:spPr>
      </p:pic>
      <p:sp>
        <p:nvSpPr>
          <p:cNvPr id="103" name="Rectángulo: esquinas redondeadas 102">
            <a:extLst>
              <a:ext uri="{FF2B5EF4-FFF2-40B4-BE49-F238E27FC236}">
                <a16:creationId xmlns:a16="http://schemas.microsoft.com/office/drawing/2014/main" id="{EC2C761A-CAB4-47FB-8567-A1C3EB11D042}"/>
              </a:ext>
            </a:extLst>
          </p:cNvPr>
          <p:cNvSpPr/>
          <p:nvPr/>
        </p:nvSpPr>
        <p:spPr>
          <a:xfrm>
            <a:off x="15473002" y="10266784"/>
            <a:ext cx="1297647" cy="398655"/>
          </a:xfrm>
          <a:prstGeom prst="roundRect">
            <a:avLst/>
          </a:prstGeom>
          <a:solidFill>
            <a:srgbClr val="0DA4D8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Programar</a:t>
            </a:r>
            <a:endParaRPr lang="es-PE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2DEB44E-864D-4D2D-A5B4-B84A557E8C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7740" r="23763"/>
          <a:stretch/>
        </p:blipFill>
        <p:spPr>
          <a:xfrm>
            <a:off x="9043851" y="7041685"/>
            <a:ext cx="3452949" cy="6724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A264442-9066-4404-B121-8B5390CD2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224" y="8494768"/>
            <a:ext cx="1810003" cy="381053"/>
          </a:xfrm>
          <a:prstGeom prst="rect">
            <a:avLst/>
          </a:prstGeom>
        </p:spPr>
      </p:pic>
      <p:sp>
        <p:nvSpPr>
          <p:cNvPr id="104" name="Rectángulo: esquinas redondeadas 103">
            <a:extLst>
              <a:ext uri="{FF2B5EF4-FFF2-40B4-BE49-F238E27FC236}">
                <a16:creationId xmlns:a16="http://schemas.microsoft.com/office/drawing/2014/main" id="{4ED958E1-B61E-43C6-B5B0-5542C4B11484}"/>
              </a:ext>
            </a:extLst>
          </p:cNvPr>
          <p:cNvSpPr/>
          <p:nvPr/>
        </p:nvSpPr>
        <p:spPr>
          <a:xfrm>
            <a:off x="15473002" y="7640966"/>
            <a:ext cx="1504910" cy="398655"/>
          </a:xfrm>
          <a:prstGeom prst="roundRect">
            <a:avLst/>
          </a:prstGeom>
          <a:solidFill>
            <a:srgbClr val="0DA4D8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Re-Programar</a:t>
            </a:r>
            <a:endParaRPr lang="es-PE"/>
          </a:p>
        </p:txBody>
      </p:sp>
      <p:sp>
        <p:nvSpPr>
          <p:cNvPr id="105" name="Rectángulo: esquinas redondeadas 104">
            <a:extLst>
              <a:ext uri="{FF2B5EF4-FFF2-40B4-BE49-F238E27FC236}">
                <a16:creationId xmlns:a16="http://schemas.microsoft.com/office/drawing/2014/main" id="{0793FE9B-2886-4D17-A202-4FDE7F8E0A46}"/>
              </a:ext>
            </a:extLst>
          </p:cNvPr>
          <p:cNvSpPr/>
          <p:nvPr/>
        </p:nvSpPr>
        <p:spPr>
          <a:xfrm>
            <a:off x="15473002" y="8124455"/>
            <a:ext cx="1504910" cy="398655"/>
          </a:xfrm>
          <a:prstGeom prst="roundRect">
            <a:avLst/>
          </a:prstGeom>
          <a:solidFill>
            <a:srgbClr val="0DA4D8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Cancelar</a:t>
            </a:r>
            <a:endParaRPr lang="es-PE"/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D6E40D15-824B-4DE5-8299-B512B9460E38}"/>
              </a:ext>
            </a:extLst>
          </p:cNvPr>
          <p:cNvSpPr txBox="1"/>
          <p:nvPr/>
        </p:nvSpPr>
        <p:spPr>
          <a:xfrm>
            <a:off x="10804449" y="7171723"/>
            <a:ext cx="2323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>
                <a:solidFill>
                  <a:schemeClr val="bg1">
                    <a:lumMod val="50000"/>
                  </a:schemeClr>
                </a:solidFill>
              </a:rPr>
              <a:t>por # expediente</a:t>
            </a:r>
            <a:endParaRPr lang="es-PE" b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Globo: línea 5">
            <a:extLst>
              <a:ext uri="{FF2B5EF4-FFF2-40B4-BE49-F238E27FC236}">
                <a16:creationId xmlns:a16="http://schemas.microsoft.com/office/drawing/2014/main" id="{A0FD5FCD-14BF-45E9-AD00-D654400C1985}"/>
              </a:ext>
            </a:extLst>
          </p:cNvPr>
          <p:cNvSpPr/>
          <p:nvPr/>
        </p:nvSpPr>
        <p:spPr>
          <a:xfrm>
            <a:off x="501748" y="6124161"/>
            <a:ext cx="7467600" cy="4541278"/>
          </a:xfrm>
          <a:prstGeom prst="borderCallout1">
            <a:avLst>
              <a:gd name="adj1" fmla="val 20541"/>
              <a:gd name="adj2" fmla="val 99707"/>
              <a:gd name="adj3" fmla="val 25032"/>
              <a:gd name="adj4" fmla="val 116298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u="sng"/>
              <a:t>2.Datos a ingresar a Pestaña Programación:</a:t>
            </a:r>
          </a:p>
          <a:p>
            <a:endParaRPr lang="es-MX"/>
          </a:p>
          <a:p>
            <a:r>
              <a:rPr lang="es-MX"/>
              <a:t>-Fecha inicio (calendario selección)</a:t>
            </a:r>
          </a:p>
          <a:p>
            <a:r>
              <a:rPr lang="es-MX"/>
              <a:t>-Fecha fin (calendario selección)</a:t>
            </a:r>
          </a:p>
          <a:p>
            <a:r>
              <a:rPr lang="es-MX"/>
              <a:t>-Filtros de búsqueda para programar ( </a:t>
            </a:r>
            <a:r>
              <a:rPr lang="es-MX">
                <a:solidFill>
                  <a:schemeClr val="accent2">
                    <a:lumMod val="60000"/>
                    <a:lumOff val="40000"/>
                  </a:schemeClr>
                </a:solidFill>
              </a:rPr>
              <a:t>por numero de expediente , ipress</a:t>
            </a:r>
            <a:r>
              <a:rPr lang="es-MX"/>
              <a:t>)</a:t>
            </a:r>
          </a:p>
          <a:p>
            <a:r>
              <a:rPr lang="es-MX"/>
              <a:t>-Filtro visual de solicitudes registradas </a:t>
            </a:r>
            <a:r>
              <a:rPr lang="es-MX">
                <a:solidFill>
                  <a:schemeClr val="accent2">
                    <a:lumMod val="60000"/>
                    <a:lumOff val="40000"/>
                  </a:schemeClr>
                </a:solidFill>
              </a:rPr>
              <a:t>(por red, ipress, estado)</a:t>
            </a:r>
          </a:p>
          <a:p>
            <a:r>
              <a:rPr lang="es-MX"/>
              <a:t>-</a:t>
            </a:r>
            <a:r>
              <a:rPr lang="es-MX">
                <a:solidFill>
                  <a:schemeClr val="accent2">
                    <a:lumMod val="60000"/>
                    <a:lumOff val="40000"/>
                  </a:schemeClr>
                </a:solidFill>
              </a:rPr>
              <a:t>Prioridad????</a:t>
            </a:r>
          </a:p>
          <a:p>
            <a:pPr marL="285750" indent="-285750">
              <a:buFontTx/>
              <a:buChar char="-"/>
            </a:pPr>
            <a:r>
              <a:rPr lang="es-MX"/>
              <a:t>Permitir ( Programar, re-programar, cancelar)</a:t>
            </a:r>
          </a:p>
          <a:p>
            <a:endParaRPr lang="es-PE"/>
          </a:p>
          <a:p>
            <a:r>
              <a:rPr lang="es-PE" b="1" u="sng"/>
              <a:t>Consideraciones:</a:t>
            </a:r>
          </a:p>
          <a:p>
            <a:endParaRPr lang="es-PE"/>
          </a:p>
          <a:p>
            <a:r>
              <a:rPr lang="es-PE" b="1"/>
              <a:t>Para Estados de documentos:</a:t>
            </a:r>
          </a:p>
          <a:p>
            <a:r>
              <a:rPr lang="es-PE"/>
              <a:t>-Atendido (se registro usuarios Y se atendió dentro de fecha)</a:t>
            </a:r>
          </a:p>
          <a:p>
            <a:r>
              <a:rPr lang="es-PE"/>
              <a:t>-Cancelado ( Se cancela evento por motivos externos o internos)</a:t>
            </a:r>
          </a:p>
          <a:p>
            <a:r>
              <a:rPr lang="es-PE"/>
              <a:t>-Reprogramado (Se cambio de fecha atención)</a:t>
            </a:r>
          </a:p>
          <a:p>
            <a:r>
              <a:rPr lang="es-PE"/>
              <a:t>-Vencido (Se registró y no se programó)</a:t>
            </a:r>
          </a:p>
        </p:txBody>
      </p:sp>
    </p:spTree>
    <p:extLst>
      <p:ext uri="{BB962C8B-B14F-4D97-AF65-F5344CB8AC3E}">
        <p14:creationId xmlns:p14="http://schemas.microsoft.com/office/powerpoint/2010/main" val="2872156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"/>
            <a:ext cx="18288000" cy="10287014"/>
          </a:xfrm>
          <a:custGeom>
            <a:avLst/>
            <a:gdLst/>
            <a:ahLst/>
            <a:cxnLst/>
            <a:rect l="l" t="t" r="r" b="b"/>
            <a:pathLst>
              <a:path w="18288000" h="10287014">
                <a:moveTo>
                  <a:pt x="0" y="0"/>
                </a:moveTo>
                <a:lnTo>
                  <a:pt x="18288000" y="0"/>
                </a:lnTo>
                <a:lnTo>
                  <a:pt x="18288000" y="10287014"/>
                </a:lnTo>
                <a:lnTo>
                  <a:pt x="0" y="10287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86400" y="4068911"/>
            <a:ext cx="6061565" cy="1270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MEDICIÓN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B7D0C9B-545F-45EB-BEA7-DC52A1735905}"/>
              </a:ext>
            </a:extLst>
          </p:cNvPr>
          <p:cNvSpPr/>
          <p:nvPr/>
        </p:nvSpPr>
        <p:spPr>
          <a:xfrm>
            <a:off x="12039600" y="8953500"/>
            <a:ext cx="2590800" cy="990600"/>
          </a:xfrm>
          <a:prstGeom prst="rect">
            <a:avLst/>
          </a:prstGeom>
          <a:solidFill>
            <a:srgbClr val="065D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CF71000B-4263-4AD0-A0AB-403F17B8D578}"/>
              </a:ext>
            </a:extLst>
          </p:cNvPr>
          <p:cNvGrpSpPr/>
          <p:nvPr/>
        </p:nvGrpSpPr>
        <p:grpSpPr>
          <a:xfrm>
            <a:off x="419724" y="374753"/>
            <a:ext cx="5968375" cy="501547"/>
            <a:chOff x="0" y="0"/>
            <a:chExt cx="7957833" cy="668729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7AF0A26-E43B-4343-8763-A35BAFC677B8}"/>
                </a:ext>
              </a:extLst>
            </p:cNvPr>
            <p:cNvSpPr/>
            <p:nvPr/>
          </p:nvSpPr>
          <p:spPr>
            <a:xfrm>
              <a:off x="0" y="0"/>
              <a:ext cx="7957820" cy="668782"/>
            </a:xfrm>
            <a:custGeom>
              <a:avLst/>
              <a:gdLst/>
              <a:ahLst/>
              <a:cxnLst/>
              <a:rect l="l" t="t" r="r" b="b"/>
              <a:pathLst>
                <a:path w="7957820" h="668782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7846314" y="0"/>
                  </a:lnTo>
                  <a:cubicBezTo>
                    <a:pt x="7907909" y="0"/>
                    <a:pt x="7957820" y="49911"/>
                    <a:pt x="7957820" y="111506"/>
                  </a:cubicBezTo>
                  <a:lnTo>
                    <a:pt x="7957820" y="557276"/>
                  </a:lnTo>
                  <a:cubicBezTo>
                    <a:pt x="7957820" y="618871"/>
                    <a:pt x="7907909" y="668782"/>
                    <a:pt x="7846314" y="668782"/>
                  </a:cubicBezTo>
                  <a:lnTo>
                    <a:pt x="111506" y="668782"/>
                  </a:lnTo>
                  <a:cubicBezTo>
                    <a:pt x="49911" y="668782"/>
                    <a:pt x="0" y="618871"/>
                    <a:pt x="0" y="557276"/>
                  </a:cubicBezTo>
                  <a:close/>
                </a:path>
              </a:pathLst>
            </a:custGeom>
            <a:gradFill rotWithShape="1">
              <a:gsLst>
                <a:gs pos="0">
                  <a:srgbClr val="019C8B">
                    <a:alpha val="100000"/>
                  </a:srgbClr>
                </a:gs>
                <a:gs pos="100000">
                  <a:srgbClr val="07B9A4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3F3E114D-D43A-4BB7-B0BA-FE792D0CBFD9}"/>
                </a:ext>
              </a:extLst>
            </p:cNvPr>
            <p:cNvSpPr txBox="1"/>
            <p:nvPr/>
          </p:nvSpPr>
          <p:spPr>
            <a:xfrm>
              <a:off x="0" y="-19050"/>
              <a:ext cx="7957833" cy="687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Mediciones</a:t>
              </a:r>
              <a:endPara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sp>
        <p:nvSpPr>
          <p:cNvPr id="5" name="TextBox 8">
            <a:extLst>
              <a:ext uri="{FF2B5EF4-FFF2-40B4-BE49-F238E27FC236}">
                <a16:creationId xmlns:a16="http://schemas.microsoft.com/office/drawing/2014/main" id="{123AEFB6-8BE5-4BAB-A64E-C9BA890806CB}"/>
              </a:ext>
            </a:extLst>
          </p:cNvPr>
          <p:cNvSpPr txBox="1"/>
          <p:nvPr/>
        </p:nvSpPr>
        <p:spPr>
          <a:xfrm>
            <a:off x="2590800" y="1105473"/>
            <a:ext cx="13716000" cy="7608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6695">
              <a:lnSpc>
                <a:spcPct val="107000"/>
              </a:lnSpc>
              <a:spcAft>
                <a:spcPts val="800"/>
              </a:spcAft>
            </a:pPr>
            <a:r>
              <a:rPr lang="es-PE" sz="2400" b="1" u="sng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Medición de Eficacia de Asistencias Técnicas</a:t>
            </a:r>
          </a:p>
          <a:p>
            <a:pPr marL="226695">
              <a:lnSpc>
                <a:spcPct val="107000"/>
              </a:lnSpc>
              <a:spcAft>
                <a:spcPts val="800"/>
              </a:spcAft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Puntaje alcanzado por macroproceso = % de Macroprocesos con mayor incidencia en puntaje “0”</a:t>
            </a:r>
          </a:p>
          <a:p>
            <a:pPr marL="226695">
              <a:lnSpc>
                <a:spcPct val="107000"/>
              </a:lnSpc>
              <a:spcAft>
                <a:spcPts val="800"/>
              </a:spcAft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Índice de Evolución del Desempeño  = % (Puntaje actual – Puntaje anterior / Puntaje Máximo)</a:t>
            </a:r>
          </a:p>
          <a:p>
            <a:pPr marL="226695">
              <a:lnSpc>
                <a:spcPct val="107000"/>
              </a:lnSpc>
              <a:spcAft>
                <a:spcPts val="800"/>
              </a:spcAft>
            </a:pPr>
            <a:endParaRPr lang="es-PE" sz="2400" b="1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6695">
              <a:lnSpc>
                <a:spcPct val="107000"/>
              </a:lnSpc>
              <a:spcAft>
                <a:spcPts val="800"/>
              </a:spcAft>
            </a:pPr>
            <a:r>
              <a:rPr lang="es-PE" sz="2400" b="1" u="sng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Cumplimiento de Hitos: (por IPRESS, por Red, por Macrorregión, Global)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% de hitos cumplidos vs. cantidad de hitos</a:t>
            </a:r>
            <a:b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(Número de hitos reportados como aprobados / Total de hitos) * 100</a:t>
            </a:r>
          </a:p>
          <a:p>
            <a:pPr marL="226695">
              <a:lnSpc>
                <a:spcPct val="107000"/>
              </a:lnSpc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449580">
              <a:lnSpc>
                <a:spcPct val="107000"/>
              </a:lnSpc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Tiempo promedio de cumplimiento por hito</a:t>
            </a:r>
            <a:b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(Fecha de cumplimiento - Fecha planificada) promedio por cada hito</a:t>
            </a:r>
          </a:p>
          <a:p>
            <a:pPr marL="226695">
              <a:lnSpc>
                <a:spcPct val="107000"/>
              </a:lnSpc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26695">
              <a:lnSpc>
                <a:spcPct val="107000"/>
              </a:lnSpc>
            </a:pPr>
            <a:r>
              <a:rPr lang="es-PE" sz="2400" b="1" u="sng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Cumplimiento de Reporte Documental:  (por IPRESS, por Red, por Macrorregión, Global)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% de documentos entregados a tiempo</a:t>
            </a:r>
            <a:b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(Documentos entregados dentro del plazo / Total documentos entregables) * 100</a:t>
            </a:r>
          </a:p>
          <a:p>
            <a:pPr marL="449580">
              <a:lnSpc>
                <a:spcPct val="107000"/>
              </a:lnSpc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26695">
              <a:lnSpc>
                <a:spcPct val="107000"/>
              </a:lnSpc>
            </a:pPr>
            <a:r>
              <a:rPr lang="es-PE" sz="2400" b="1" u="sng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Cumplimiento de Atención: (por IPRESS, por Red, por Macrorregión, Global)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% de documentos atendidos a tiempo</a:t>
            </a:r>
            <a:b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(Documentos atendidos dentro del plazo por hito/ Total documentos entregables) * 100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2738D51-C8AE-4767-A68C-427923F9B5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419724" y="1028700"/>
            <a:ext cx="1901313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01061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6610EE92-3D87-4FFE-9177-164C46A13F67}"/>
              </a:ext>
            </a:extLst>
          </p:cNvPr>
          <p:cNvGrpSpPr/>
          <p:nvPr/>
        </p:nvGrpSpPr>
        <p:grpSpPr>
          <a:xfrm>
            <a:off x="419724" y="374753"/>
            <a:ext cx="5968375" cy="501547"/>
            <a:chOff x="0" y="0"/>
            <a:chExt cx="7957833" cy="668729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4F1321D7-CF7D-4B8E-845C-FAE7ABE1C32B}"/>
                </a:ext>
              </a:extLst>
            </p:cNvPr>
            <p:cNvSpPr/>
            <p:nvPr/>
          </p:nvSpPr>
          <p:spPr>
            <a:xfrm>
              <a:off x="0" y="0"/>
              <a:ext cx="7957820" cy="668782"/>
            </a:xfrm>
            <a:custGeom>
              <a:avLst/>
              <a:gdLst/>
              <a:ahLst/>
              <a:cxnLst/>
              <a:rect l="l" t="t" r="r" b="b"/>
              <a:pathLst>
                <a:path w="7957820" h="668782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7846314" y="0"/>
                  </a:lnTo>
                  <a:cubicBezTo>
                    <a:pt x="7907909" y="0"/>
                    <a:pt x="7957820" y="49911"/>
                    <a:pt x="7957820" y="111506"/>
                  </a:cubicBezTo>
                  <a:lnTo>
                    <a:pt x="7957820" y="557276"/>
                  </a:lnTo>
                  <a:cubicBezTo>
                    <a:pt x="7957820" y="618871"/>
                    <a:pt x="7907909" y="668782"/>
                    <a:pt x="7846314" y="668782"/>
                  </a:cubicBezTo>
                  <a:lnTo>
                    <a:pt x="111506" y="668782"/>
                  </a:lnTo>
                  <a:cubicBezTo>
                    <a:pt x="49911" y="668782"/>
                    <a:pt x="0" y="618871"/>
                    <a:pt x="0" y="557276"/>
                  </a:cubicBezTo>
                  <a:close/>
                </a:path>
              </a:pathLst>
            </a:custGeom>
            <a:gradFill rotWithShape="1">
              <a:gsLst>
                <a:gs pos="0">
                  <a:srgbClr val="019C8B">
                    <a:alpha val="100000"/>
                  </a:srgbClr>
                </a:gs>
                <a:gs pos="100000">
                  <a:srgbClr val="07B9A4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A6EB9C35-D277-4673-978F-E36A032C6BC4}"/>
                </a:ext>
              </a:extLst>
            </p:cNvPr>
            <p:cNvSpPr txBox="1"/>
            <p:nvPr/>
          </p:nvSpPr>
          <p:spPr>
            <a:xfrm>
              <a:off x="0" y="-19050"/>
              <a:ext cx="7957833" cy="687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Mediciones</a:t>
              </a:r>
              <a:endParaRPr lang="en-US" sz="2799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449A7978-9C6C-4048-84CF-B4FB9E49E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293395"/>
            <a:ext cx="2631286" cy="2274277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93680CF8-BFF3-4F10-814C-038A37D21009}"/>
              </a:ext>
            </a:extLst>
          </p:cNvPr>
          <p:cNvSpPr txBox="1"/>
          <p:nvPr/>
        </p:nvSpPr>
        <p:spPr>
          <a:xfrm>
            <a:off x="4038600" y="1625869"/>
            <a:ext cx="12801600" cy="6335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6695">
              <a:lnSpc>
                <a:spcPct val="107000"/>
              </a:lnSpc>
            </a:pPr>
            <a:r>
              <a:rPr lang="es-PE" sz="2400" b="1" u="sng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Calidad de documentos presentados: (por IPRESS, por Red, por Macrorregión, Global)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</a:pPr>
            <a:r>
              <a:rPr lang="es-PE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Cantidad de documentos aprobados sin observaciones/Cantidad de documentos aprobados</a:t>
            </a:r>
          </a:p>
          <a:p>
            <a:pPr marL="449580">
              <a:lnSpc>
                <a:spcPct val="107000"/>
              </a:lnSpc>
            </a:pPr>
            <a:endParaRPr lang="es-MX" sz="2400" b="1" u="sng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6695">
              <a:lnSpc>
                <a:spcPct val="107000"/>
              </a:lnSpc>
              <a:spcAft>
                <a:spcPts val="800"/>
              </a:spcAft>
            </a:pPr>
            <a:r>
              <a:rPr lang="es-MX" sz="2400" b="1" u="sng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Cobertura de capacitación y asistencia técnica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% de regiones/redes/</a:t>
            </a:r>
            <a:r>
              <a:rPr lang="es-MX" sz="240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ipress</a:t>
            </a: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capacitadas</a:t>
            </a:r>
            <a:b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(Número de regiones/redes/</a:t>
            </a:r>
            <a:r>
              <a:rPr lang="es-MX" sz="240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ipress</a:t>
            </a: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recibieron capacitación / Total regiones/redes/</a:t>
            </a:r>
            <a:r>
              <a:rPr lang="es-MX" sz="240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ipress</a:t>
            </a: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* 100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promedio de capacitaciones y asistencias técnicas realizadas por periodo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Índice de satisfacción o evaluación </a:t>
            </a:r>
            <a:r>
              <a:rPr lang="es-MX" sz="2400" dirty="0" err="1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post-capacitación</a:t>
            </a: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(si se aplica encuesta)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Histó</a:t>
            </a: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rico por años por AT y Capacitaciones (participantes segmentados por IPRESS, Red, </a:t>
            </a:r>
            <a:r>
              <a:rPr lang="es-MX" sz="2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Macrorregion</a:t>
            </a: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28600">
              <a:lnSpc>
                <a:spcPct val="107000"/>
              </a:lnSpc>
              <a:spcAft>
                <a:spcPts val="800"/>
              </a:spcAft>
            </a:pPr>
            <a:r>
              <a:rPr lang="es-MX" sz="2400" b="1" u="sng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Mejora continua</a:t>
            </a:r>
            <a:endParaRPr lang="es-PE" sz="2400" u="sng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Reducción de incumplimientos o retrasos en la entrega tras capacitaciones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4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Evolución en calidad de documentos a lo largo del proceso</a:t>
            </a:r>
            <a:endParaRPr lang="es-PE" sz="2400" dirty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43222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"/>
            <a:ext cx="18288000" cy="10287014"/>
          </a:xfrm>
          <a:custGeom>
            <a:avLst/>
            <a:gdLst/>
            <a:ahLst/>
            <a:cxnLst/>
            <a:rect l="l" t="t" r="r" b="b"/>
            <a:pathLst>
              <a:path w="18288000" h="10287014">
                <a:moveTo>
                  <a:pt x="0" y="0"/>
                </a:moveTo>
                <a:lnTo>
                  <a:pt x="18288000" y="0"/>
                </a:lnTo>
                <a:lnTo>
                  <a:pt x="18288000" y="10287014"/>
                </a:lnTo>
                <a:lnTo>
                  <a:pt x="0" y="10287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48063" y="4068911"/>
            <a:ext cx="5275667" cy="127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Reportería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6BC26C-B927-48E8-85E7-9E765B87788C}"/>
              </a:ext>
            </a:extLst>
          </p:cNvPr>
          <p:cNvSpPr/>
          <p:nvPr/>
        </p:nvSpPr>
        <p:spPr>
          <a:xfrm>
            <a:off x="12039600" y="8953500"/>
            <a:ext cx="2590800" cy="990600"/>
          </a:xfrm>
          <a:prstGeom prst="rect">
            <a:avLst/>
          </a:prstGeom>
          <a:solidFill>
            <a:srgbClr val="065D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0EE7E07-F0DF-4148-BAC5-F9612233C207}"/>
              </a:ext>
            </a:extLst>
          </p:cNvPr>
          <p:cNvGrpSpPr/>
          <p:nvPr/>
        </p:nvGrpSpPr>
        <p:grpSpPr>
          <a:xfrm>
            <a:off x="419725" y="374753"/>
            <a:ext cx="4304676" cy="501547"/>
            <a:chOff x="0" y="0"/>
            <a:chExt cx="11985759" cy="668729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56819031-F486-46A6-AB22-07EA3245D85E}"/>
                </a:ext>
              </a:extLst>
            </p:cNvPr>
            <p:cNvSpPr/>
            <p:nvPr/>
          </p:nvSpPr>
          <p:spPr>
            <a:xfrm>
              <a:off x="0" y="0"/>
              <a:ext cx="11985752" cy="668782"/>
            </a:xfrm>
            <a:custGeom>
              <a:avLst/>
              <a:gdLst/>
              <a:ahLst/>
              <a:cxnLst/>
              <a:rect l="l" t="t" r="r" b="b"/>
              <a:pathLst>
                <a:path w="11985752" h="668782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11874246" y="0"/>
                  </a:lnTo>
                  <a:cubicBezTo>
                    <a:pt x="11935840" y="0"/>
                    <a:pt x="11985752" y="49911"/>
                    <a:pt x="11985752" y="111506"/>
                  </a:cubicBezTo>
                  <a:lnTo>
                    <a:pt x="11985752" y="557276"/>
                  </a:lnTo>
                  <a:cubicBezTo>
                    <a:pt x="11985752" y="618871"/>
                    <a:pt x="11935840" y="668782"/>
                    <a:pt x="11874246" y="668782"/>
                  </a:cubicBezTo>
                  <a:lnTo>
                    <a:pt x="111506" y="668782"/>
                  </a:lnTo>
                  <a:cubicBezTo>
                    <a:pt x="49911" y="668782"/>
                    <a:pt x="0" y="618871"/>
                    <a:pt x="0" y="557276"/>
                  </a:cubicBezTo>
                  <a:close/>
                </a:path>
              </a:pathLst>
            </a:custGeom>
            <a:gradFill rotWithShape="1">
              <a:gsLst>
                <a:gs pos="0">
                  <a:srgbClr val="019C8B">
                    <a:alpha val="100000"/>
                  </a:srgbClr>
                </a:gs>
                <a:gs pos="100000">
                  <a:srgbClr val="07B9A4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19E1B2F0-C6B2-417C-85CC-C22EB61419A3}"/>
                </a:ext>
              </a:extLst>
            </p:cNvPr>
            <p:cNvSpPr txBox="1"/>
            <p:nvPr/>
          </p:nvSpPr>
          <p:spPr>
            <a:xfrm>
              <a:off x="0" y="-19050"/>
              <a:ext cx="11985759" cy="687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REPORTERIA</a:t>
              </a:r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4530F9E5-D540-4B64-A031-F2D26BE01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069" y="1212292"/>
            <a:ext cx="15621000" cy="6632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PE" altLang="es-PE" sz="2500" b="1" dirty="0">
                <a:solidFill>
                  <a:srgbClr val="0070C0"/>
                </a:solidFill>
              </a:rPr>
              <a:t>Reportes de Revisión documentaria: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PE" altLang="es-PE" sz="2500" dirty="0">
                <a:solidFill>
                  <a:srgbClr val="0070C0"/>
                </a:solidFill>
              </a:rPr>
              <a:t>Reporte con cantidad de documentos por estado: observados, aprobados, no presentado, pendiente: T</a:t>
            </a:r>
            <a:r>
              <a:rPr lang="es-MX" altLang="es-PE" sz="2500" dirty="0" err="1">
                <a:solidFill>
                  <a:srgbClr val="0070C0"/>
                </a:solidFill>
              </a:rPr>
              <a:t>ipo</a:t>
            </a:r>
            <a:r>
              <a:rPr lang="es-MX" altLang="es-PE" sz="2500" dirty="0">
                <a:solidFill>
                  <a:srgbClr val="0070C0"/>
                </a:solidFill>
              </a:rPr>
              <a:t> de solicitud, IPRESS, Red, Macrorregión, Nivel, Fecha de presentación, Sectorista/Jefe de Calidad.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PE" sz="2500" dirty="0">
                <a:solidFill>
                  <a:srgbClr val="0070C0"/>
                </a:solidFill>
              </a:rPr>
              <a:t>Reporte de desarrollo de autoevaluación (HITO 7): Red, IPRESS, Nivel, Macrorregión, Código de Macroproceso, Puntaje y Fuentes auditables de la IPRESS, versión, responsable de la AT.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PE" sz="2500" dirty="0">
                <a:solidFill>
                  <a:srgbClr val="0070C0"/>
                </a:solidFill>
              </a:rPr>
              <a:t>Reporte de programación de AT/Capacitaciones: fecha, vencimiento, estado (registrado, programado, reprogramado, atendido, cerrado), responsable, No. Expediente, No participantes,  Red, IPRESS, Nivel, Macrorregión.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PE" altLang="es-PE" sz="2500" dirty="0">
              <a:solidFill>
                <a:srgbClr val="0070C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PE" altLang="es-PE" sz="2500" b="1" dirty="0">
                <a:solidFill>
                  <a:srgbClr val="0070C0"/>
                </a:solidFill>
              </a:rPr>
              <a:t>Tableros de seguimiento: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PE" altLang="es-PE" sz="2500" b="1" dirty="0">
                <a:solidFill>
                  <a:srgbClr val="0070C0"/>
                </a:solidFill>
              </a:rPr>
              <a:t>Monitoreo para procesos de</a:t>
            </a:r>
            <a:r>
              <a:rPr lang="es-MX" altLang="es-PE" sz="2500" b="1" dirty="0">
                <a:solidFill>
                  <a:srgbClr val="0070C0"/>
                </a:solidFill>
              </a:rPr>
              <a:t>“Revisión documentaria” y “AT/CAPAC”:</a:t>
            </a:r>
            <a:endParaRPr lang="es-PE" altLang="es-PE" sz="2500" b="1" dirty="0">
              <a:solidFill>
                <a:srgbClr val="0070C0"/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PE" altLang="es-PE" sz="2500" dirty="0">
                <a:solidFill>
                  <a:srgbClr val="0070C0"/>
                </a:solidFill>
              </a:rPr>
              <a:t>Mapas de calor a nivel nacional que muestran el nivel de cumplimiento </a:t>
            </a:r>
            <a:r>
              <a:rPr lang="es-MX" altLang="es-PE" sz="2500" dirty="0">
                <a:solidFill>
                  <a:srgbClr val="0070C0"/>
                </a:solidFill>
              </a:rPr>
              <a:t>de cada proceso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MX" altLang="es-PE" sz="2500" dirty="0">
                <a:solidFill>
                  <a:srgbClr val="0070C0"/>
                </a:solidFill>
              </a:rPr>
              <a:t>Barras apiladas de porcentaje de cumplimiento por IPRESS o Red (mes a mes)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PE" altLang="es-PE" sz="2500" dirty="0">
                <a:solidFill>
                  <a:srgbClr val="0070C0"/>
                </a:solidFill>
              </a:rPr>
              <a:t>Alertas o semáforos de puntaje en autoevaluación por IPRESS (verde: &gt;84%, amarillo: 50-84%, rojo: &lt;50%), </a:t>
            </a:r>
            <a:r>
              <a:rPr lang="es-PE" altLang="es-PE" sz="2500" dirty="0" err="1">
                <a:solidFill>
                  <a:srgbClr val="0070C0"/>
                </a:solidFill>
              </a:rPr>
              <a:t>Ipress</a:t>
            </a:r>
            <a:r>
              <a:rPr lang="es-PE" altLang="es-PE" sz="2500" dirty="0">
                <a:solidFill>
                  <a:srgbClr val="0070C0"/>
                </a:solidFill>
              </a:rPr>
              <a:t> con bajo desempeño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PE" sz="2500" dirty="0">
                <a:solidFill>
                  <a:srgbClr val="0070C0"/>
                </a:solidFill>
              </a:rPr>
              <a:t>KPI global: % Global de atención de solicitudes por proceso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PE" sz="2500" dirty="0">
                <a:solidFill>
                  <a:srgbClr val="0070C0"/>
                </a:solidFill>
              </a:rPr>
              <a:t>% de documentos según estado ( observaciones, aprobaciones)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MX" altLang="es-PE" sz="2500" dirty="0">
                <a:solidFill>
                  <a:srgbClr val="0070C0"/>
                </a:solidFill>
              </a:rPr>
              <a:t>KPI de cobertura total (% IPRESS capacitadas y asistidas) y las que no recibieron capacitación o asistencia técnica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71C6E8-5ABD-4EFA-8094-81D975969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24" y="1129047"/>
            <a:ext cx="1735295" cy="149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2312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BE16D3-C67A-4837-AC56-F62986C11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100" y="3412034"/>
            <a:ext cx="1478217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9A9A3BA-D387-4F7E-8531-4353186A44F1}"/>
              </a:ext>
            </a:extLst>
          </p:cNvPr>
          <p:cNvSpPr txBox="1"/>
          <p:nvPr/>
        </p:nvSpPr>
        <p:spPr>
          <a:xfrm>
            <a:off x="3733800" y="1122331"/>
            <a:ext cx="1135380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500" b="1" dirty="0">
                <a:solidFill>
                  <a:srgbClr val="0070C0"/>
                </a:solidFill>
              </a:rPr>
              <a:t>Mejora Continua:</a:t>
            </a:r>
          </a:p>
          <a:p>
            <a:r>
              <a:rPr lang="es-PE" sz="2500" dirty="0">
                <a:solidFill>
                  <a:srgbClr val="0070C0"/>
                </a:solidFill>
              </a:rPr>
              <a:t>Gráfico de líneas: tendencia mensual de retrasos en la presentación de documentos</a:t>
            </a:r>
          </a:p>
          <a:p>
            <a:r>
              <a:rPr lang="es-PE" sz="2500" dirty="0">
                <a:solidFill>
                  <a:srgbClr val="0070C0"/>
                </a:solidFill>
              </a:rPr>
              <a:t>Línea 1: % de retrasos por mes en la presentación de documentos</a:t>
            </a:r>
          </a:p>
          <a:p>
            <a:r>
              <a:rPr lang="es-PE" sz="2500" dirty="0">
                <a:solidFill>
                  <a:srgbClr val="0070C0"/>
                </a:solidFill>
              </a:rPr>
              <a:t>Línea vertical indicando la fecha de capacitación</a:t>
            </a:r>
          </a:p>
          <a:p>
            <a:r>
              <a:rPr lang="es-PE" sz="2500" dirty="0">
                <a:solidFill>
                  <a:srgbClr val="0070C0"/>
                </a:solidFill>
              </a:rPr>
              <a:t>Permite visualizar si los retrasos disminuyen luego de la intervención</a:t>
            </a:r>
          </a:p>
          <a:p>
            <a:endParaRPr lang="es-PE" sz="2500" dirty="0">
              <a:solidFill>
                <a:srgbClr val="0070C0"/>
              </a:solidFill>
            </a:endParaRPr>
          </a:p>
          <a:p>
            <a:r>
              <a:rPr lang="es-PE" sz="2500" dirty="0">
                <a:solidFill>
                  <a:srgbClr val="0070C0"/>
                </a:solidFill>
              </a:rPr>
              <a:t>KPI de reducción global de retrasos (%)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13BF3BE-16A9-4768-9E1D-6038D2B6F8A6}"/>
              </a:ext>
            </a:extLst>
          </p:cNvPr>
          <p:cNvGrpSpPr/>
          <p:nvPr/>
        </p:nvGrpSpPr>
        <p:grpSpPr>
          <a:xfrm>
            <a:off x="419725" y="374753"/>
            <a:ext cx="4304676" cy="501547"/>
            <a:chOff x="0" y="0"/>
            <a:chExt cx="11985759" cy="66872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8C458F3-1770-4FE8-9459-3F9D307198A7}"/>
                </a:ext>
              </a:extLst>
            </p:cNvPr>
            <p:cNvSpPr/>
            <p:nvPr/>
          </p:nvSpPr>
          <p:spPr>
            <a:xfrm>
              <a:off x="0" y="0"/>
              <a:ext cx="11985752" cy="668782"/>
            </a:xfrm>
            <a:custGeom>
              <a:avLst/>
              <a:gdLst/>
              <a:ahLst/>
              <a:cxnLst/>
              <a:rect l="l" t="t" r="r" b="b"/>
              <a:pathLst>
                <a:path w="11985752" h="668782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11874246" y="0"/>
                  </a:lnTo>
                  <a:cubicBezTo>
                    <a:pt x="11935840" y="0"/>
                    <a:pt x="11985752" y="49911"/>
                    <a:pt x="11985752" y="111506"/>
                  </a:cubicBezTo>
                  <a:lnTo>
                    <a:pt x="11985752" y="557276"/>
                  </a:lnTo>
                  <a:cubicBezTo>
                    <a:pt x="11985752" y="618871"/>
                    <a:pt x="11935840" y="668782"/>
                    <a:pt x="11874246" y="668782"/>
                  </a:cubicBezTo>
                  <a:lnTo>
                    <a:pt x="111506" y="668782"/>
                  </a:lnTo>
                  <a:cubicBezTo>
                    <a:pt x="49911" y="668782"/>
                    <a:pt x="0" y="618871"/>
                    <a:pt x="0" y="557276"/>
                  </a:cubicBezTo>
                  <a:close/>
                </a:path>
              </a:pathLst>
            </a:custGeom>
            <a:gradFill rotWithShape="1">
              <a:gsLst>
                <a:gs pos="0">
                  <a:srgbClr val="019C8B">
                    <a:alpha val="100000"/>
                  </a:srgbClr>
                </a:gs>
                <a:gs pos="100000">
                  <a:srgbClr val="07B9A4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6A3A47F-E6A8-4FF8-AE12-DA6DFFA7A265}"/>
                </a:ext>
              </a:extLst>
            </p:cNvPr>
            <p:cNvSpPr txBox="1"/>
            <p:nvPr/>
          </p:nvSpPr>
          <p:spPr>
            <a:xfrm>
              <a:off x="0" y="-19050"/>
              <a:ext cx="11985759" cy="687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dirty="0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REPORTERIA</a:t>
              </a:r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50819D89-176E-491F-B84F-4DAFA2C9A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81" y="1229145"/>
            <a:ext cx="22002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3752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"/>
            <a:ext cx="18288000" cy="10287014"/>
          </a:xfrm>
          <a:custGeom>
            <a:avLst/>
            <a:gdLst/>
            <a:ahLst/>
            <a:cxnLst/>
            <a:rect l="l" t="t" r="r" b="b"/>
            <a:pathLst>
              <a:path w="18288000" h="10287014">
                <a:moveTo>
                  <a:pt x="0" y="0"/>
                </a:moveTo>
                <a:lnTo>
                  <a:pt x="18288000" y="0"/>
                </a:lnTo>
                <a:lnTo>
                  <a:pt x="18288000" y="10287014"/>
                </a:lnTo>
                <a:lnTo>
                  <a:pt x="0" y="10287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63668" y="4068911"/>
            <a:ext cx="4844458" cy="127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Prototipo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E9B64AD-46C9-4EE7-85C4-98CD45554667}"/>
              </a:ext>
            </a:extLst>
          </p:cNvPr>
          <p:cNvSpPr/>
          <p:nvPr/>
        </p:nvSpPr>
        <p:spPr>
          <a:xfrm>
            <a:off x="12039600" y="8953500"/>
            <a:ext cx="2590800" cy="990600"/>
          </a:xfrm>
          <a:prstGeom prst="rect">
            <a:avLst/>
          </a:prstGeom>
          <a:solidFill>
            <a:srgbClr val="065D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70475EC4-B325-43D8-BAC6-4D8AA6BD9F77}"/>
              </a:ext>
            </a:extLst>
          </p:cNvPr>
          <p:cNvGrpSpPr/>
          <p:nvPr/>
        </p:nvGrpSpPr>
        <p:grpSpPr>
          <a:xfrm>
            <a:off x="591242" y="285151"/>
            <a:ext cx="6190558" cy="715089"/>
            <a:chOff x="0" y="0"/>
            <a:chExt cx="16470747" cy="953452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B5F0B063-7107-406A-A3DB-C7ADA504AFE5}"/>
                </a:ext>
              </a:extLst>
            </p:cNvPr>
            <p:cNvSpPr/>
            <p:nvPr/>
          </p:nvSpPr>
          <p:spPr>
            <a:xfrm>
              <a:off x="0" y="0"/>
              <a:ext cx="16470757" cy="953389"/>
            </a:xfrm>
            <a:custGeom>
              <a:avLst/>
              <a:gdLst/>
              <a:ahLst/>
              <a:cxnLst/>
              <a:rect l="l" t="t" r="r" b="b"/>
              <a:pathLst>
                <a:path w="16470757" h="953389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16311880" y="0"/>
                  </a:lnTo>
                  <a:cubicBezTo>
                    <a:pt x="16399638" y="0"/>
                    <a:pt x="16470757" y="71120"/>
                    <a:pt x="16470757" y="158877"/>
                  </a:cubicBezTo>
                  <a:lnTo>
                    <a:pt x="16470757" y="794512"/>
                  </a:lnTo>
                  <a:cubicBezTo>
                    <a:pt x="16470757" y="882269"/>
                    <a:pt x="16399638" y="953389"/>
                    <a:pt x="16311880" y="953389"/>
                  </a:cubicBezTo>
                  <a:lnTo>
                    <a:pt x="158877" y="953389"/>
                  </a:lnTo>
                  <a:cubicBezTo>
                    <a:pt x="71120" y="953389"/>
                    <a:pt x="0" y="882269"/>
                    <a:pt x="0" y="794512"/>
                  </a:cubicBezTo>
                  <a:close/>
                </a:path>
              </a:pathLst>
            </a:custGeom>
            <a:solidFill>
              <a:srgbClr val="02ACC7"/>
            </a:soli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8DA9CB1E-C0A9-4B7E-959A-9D998B58B354}"/>
                </a:ext>
              </a:extLst>
            </p:cNvPr>
            <p:cNvSpPr txBox="1"/>
            <p:nvPr/>
          </p:nvSpPr>
          <p:spPr>
            <a:xfrm>
              <a:off x="0" y="-28575"/>
              <a:ext cx="16470747" cy="98202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Desarrollo de </a:t>
              </a:r>
              <a:r>
                <a:rPr lang="en-US" sz="3600" b="1" dirty="0" err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Prototipo</a:t>
              </a:r>
              <a:endParaRPr lang="en-US" sz="36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5" name="Group 10">
            <a:extLst>
              <a:ext uri="{FF2B5EF4-FFF2-40B4-BE49-F238E27FC236}">
                <a16:creationId xmlns:a16="http://schemas.microsoft.com/office/drawing/2014/main" id="{29D5BB3D-B326-4BE4-BDF5-6DA65080E042}"/>
              </a:ext>
            </a:extLst>
          </p:cNvPr>
          <p:cNvGrpSpPr/>
          <p:nvPr/>
        </p:nvGrpSpPr>
        <p:grpSpPr>
          <a:xfrm>
            <a:off x="3539269" y="7395428"/>
            <a:ext cx="10121361" cy="859760"/>
            <a:chOff x="0" y="-14777"/>
            <a:chExt cx="13495147" cy="1146347"/>
          </a:xfrm>
        </p:grpSpPr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2E730450-3513-4FB2-9ACE-EAAAE8094BD7}"/>
                </a:ext>
              </a:extLst>
            </p:cNvPr>
            <p:cNvSpPr/>
            <p:nvPr/>
          </p:nvSpPr>
          <p:spPr>
            <a:xfrm>
              <a:off x="0" y="0"/>
              <a:ext cx="13495147" cy="1131570"/>
            </a:xfrm>
            <a:custGeom>
              <a:avLst/>
              <a:gdLst/>
              <a:ahLst/>
              <a:cxnLst/>
              <a:rect l="l" t="t" r="r" b="b"/>
              <a:pathLst>
                <a:path w="13495147" h="1131570">
                  <a:moveTo>
                    <a:pt x="0" y="51308"/>
                  </a:moveTo>
                  <a:cubicBezTo>
                    <a:pt x="0" y="22987"/>
                    <a:pt x="22987" y="0"/>
                    <a:pt x="51308" y="0"/>
                  </a:cubicBezTo>
                  <a:lnTo>
                    <a:pt x="13443838" y="0"/>
                  </a:lnTo>
                  <a:cubicBezTo>
                    <a:pt x="13472159" y="0"/>
                    <a:pt x="13495147" y="22987"/>
                    <a:pt x="13495147" y="51308"/>
                  </a:cubicBezTo>
                  <a:lnTo>
                    <a:pt x="13495147" y="1080262"/>
                  </a:lnTo>
                  <a:cubicBezTo>
                    <a:pt x="13495147" y="1108583"/>
                    <a:pt x="13472159" y="1131570"/>
                    <a:pt x="13443838" y="1131570"/>
                  </a:cubicBezTo>
                  <a:lnTo>
                    <a:pt x="51308" y="1131570"/>
                  </a:lnTo>
                  <a:cubicBezTo>
                    <a:pt x="22987" y="1131570"/>
                    <a:pt x="0" y="1108583"/>
                    <a:pt x="0" y="10802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12">
              <a:extLst>
                <a:ext uri="{FF2B5EF4-FFF2-40B4-BE49-F238E27FC236}">
                  <a16:creationId xmlns:a16="http://schemas.microsoft.com/office/drawing/2014/main" id="{4DD6516C-5D77-4621-BA7F-4A22EE57F3D2}"/>
                </a:ext>
              </a:extLst>
            </p:cNvPr>
            <p:cNvSpPr txBox="1"/>
            <p:nvPr/>
          </p:nvSpPr>
          <p:spPr>
            <a:xfrm>
              <a:off x="0" y="-14777"/>
              <a:ext cx="13495085" cy="1141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s-PE" u="none" strike="noStrike">
                  <a:solidFill>
                    <a:srgbClr val="1264A3"/>
                  </a:solidFill>
                  <a:effectLst/>
                  <a:hlinkClick r:id="rId4"/>
                </a:rPr>
                <a:t>https://www.figma.com/design/dr4RUQggvXjCd0b0qFqDv5/SAMEC?node-id=0-1&amp;p=f&amp;t=GSeu9tCKxtEI9LHU-0</a:t>
              </a:r>
              <a:endParaRPr lang="en-US" sz="18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6BBB3D2-1FEF-4717-93A5-07561BE8B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031812"/>
            <a:ext cx="8196263" cy="457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9169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4"/>
            <a:ext cx="18288000" cy="10287014"/>
          </a:xfrm>
          <a:custGeom>
            <a:avLst/>
            <a:gdLst/>
            <a:ahLst/>
            <a:cxnLst/>
            <a:rect l="l" t="t" r="r" b="b"/>
            <a:pathLst>
              <a:path w="18288000" h="10287014">
                <a:moveTo>
                  <a:pt x="0" y="0"/>
                </a:moveTo>
                <a:lnTo>
                  <a:pt x="18288000" y="0"/>
                </a:lnTo>
                <a:lnTo>
                  <a:pt x="18288000" y="10287014"/>
                </a:lnTo>
                <a:lnTo>
                  <a:pt x="0" y="10287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63668" y="4068911"/>
            <a:ext cx="4844458" cy="127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GRACIAS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E9B64AD-46C9-4EE7-85C4-98CD45554667}"/>
              </a:ext>
            </a:extLst>
          </p:cNvPr>
          <p:cNvSpPr/>
          <p:nvPr/>
        </p:nvSpPr>
        <p:spPr>
          <a:xfrm>
            <a:off x="12039600" y="8953500"/>
            <a:ext cx="2590800" cy="990600"/>
          </a:xfrm>
          <a:prstGeom prst="rect">
            <a:avLst/>
          </a:prstGeom>
          <a:solidFill>
            <a:srgbClr val="065D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911846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2423</Words>
  <Application>Microsoft Office PowerPoint</Application>
  <PresentationFormat>Personalizado</PresentationFormat>
  <Paragraphs>343</Paragraphs>
  <Slides>27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5" baseType="lpstr">
      <vt:lpstr>Arial</vt:lpstr>
      <vt:lpstr>Arimo Bold</vt:lpstr>
      <vt:lpstr>Roboto</vt:lpstr>
      <vt:lpstr>Roboto Bold</vt:lpstr>
      <vt:lpstr>Arimo</vt:lpstr>
      <vt:lpstr>Symbol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- Sistema de Humanización - OGCYH.pptx</dc:title>
  <dc:creator>OGCYH GAMC 01</dc:creator>
  <cp:lastModifiedBy>OGCYH</cp:lastModifiedBy>
  <cp:revision>130</cp:revision>
  <dcterms:created xsi:type="dcterms:W3CDTF">2006-08-16T00:00:00Z</dcterms:created>
  <dcterms:modified xsi:type="dcterms:W3CDTF">2026-02-27T14:09:35Z</dcterms:modified>
  <dc:identifier>DAGdrgaBggc</dc:identifier>
</cp:coreProperties>
</file>